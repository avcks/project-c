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F5DA8-ACED-4AD0-9B4E-13666C7238AE}" v="187" dt="2026-03-11T15:00:40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46490-251F-4862-B441-E757CE86C102}" type="datetimeFigureOut"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39ACB-A4E3-40AD-BD21-CA253BC7EF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7238" y="1824120"/>
            <a:ext cx="6289524" cy="112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550" kern="0" spc="-100" dirty="0">
                <a:solidFill>
                  <a:srgbClr val="F2F2F2"/>
                </a:solidFill>
              </a:rPr>
              <a:t>AYH MART: Checkout System</a:t>
            </a:r>
            <a:endParaRPr lang="en-US" sz="4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8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8430381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97948C"/>
                </a:solidFill>
              </a:rPr>
              <a:t>A Project On</a:t>
            </a:r>
            <a:endParaRPr lang="en-US" sz="3048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36" dirty="0">
                <a:solidFill>
                  <a:srgbClr val="F2F2F2"/>
                </a:solidFill>
              </a:rPr>
              <a:t>AYH MART - Checkout System</a:t>
            </a:r>
            <a:endParaRPr lang="en-US" sz="3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97948C"/>
                </a:solidFill>
              </a:rPr>
              <a:t>Inclusive Integrated | Innovative</a:t>
            </a:r>
            <a:endParaRPr lang="en-US" sz="3048" dirty="0"/>
          </a:p>
        </p:txBody>
      </p:sp>
      <p:sp>
        <p:nvSpPr>
          <p:cNvPr id="4" name="Text 1"/>
          <p:cNvSpPr/>
          <p:nvPr/>
        </p:nvSpPr>
        <p:spPr>
          <a:xfrm>
            <a:off x="370320" y="3629039"/>
            <a:ext cx="1536095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Programme</a:t>
            </a:r>
            <a:endParaRPr lang="en-US" sz="1143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IMCA I Sem-2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148044" y="3629039"/>
            <a:ext cx="1536095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Under the Guidance of</a:t>
            </a:r>
            <a:endParaRPr lang="en-US" sz="1143" dirty="0"/>
          </a:p>
          <a:p>
            <a:r>
              <a:rPr lang="en-US" sz="1100" dirty="0">
                <a:solidFill>
                  <a:srgbClr val="B8B8B8"/>
                </a:solidFill>
              </a:rPr>
              <a:t>Prof. </a:t>
            </a:r>
            <a:r>
              <a:rPr lang="en-US" sz="1100" dirty="0">
                <a:solidFill>
                  <a:srgbClr val="B8B8B8"/>
                </a:solidFill>
                <a:latin typeface="Arial"/>
                <a:ea typeface="Lato"/>
                <a:cs typeface="Arial"/>
              </a:rPr>
              <a:t>Veer </a:t>
            </a:r>
            <a:r>
              <a:rPr lang="en-US" sz="1100" dirty="0" err="1">
                <a:solidFill>
                  <a:srgbClr val="B8B8B8"/>
                </a:solidFill>
                <a:latin typeface="Arial"/>
                <a:ea typeface="Lato"/>
                <a:cs typeface="Arial"/>
              </a:rPr>
              <a:t>Pachchigar</a:t>
            </a:r>
            <a:endParaRPr lang="en-US" sz="1143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25768" y="3629039"/>
            <a:ext cx="2172702" cy="69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Presented By</a:t>
            </a:r>
            <a:endParaRPr lang="en-US" sz="1143" dirty="0"/>
          </a:p>
          <a:p>
            <a:r>
              <a:rPr lang="en-US" sz="1100" dirty="0">
                <a:solidFill>
                  <a:srgbClr val="B8B8B8"/>
                </a:solidFill>
              </a:rPr>
              <a:t>Aum - ET25IMCA039</a:t>
            </a:r>
            <a:endParaRPr lang="en-US" sz="1143" dirty="0"/>
          </a:p>
          <a:p>
            <a:r>
              <a:rPr lang="en-US" sz="1100" dirty="0">
                <a:solidFill>
                  <a:srgbClr val="B8B8B8"/>
                </a:solidFill>
              </a:rPr>
              <a:t>Yesh - </a:t>
            </a:r>
            <a:r>
              <a:rPr lang="en-US" sz="1100" dirty="0">
                <a:solidFill>
                  <a:srgbClr val="B8B8B8"/>
                </a:solidFill>
                <a:latin typeface="Arial"/>
                <a:ea typeface="Lato"/>
                <a:cs typeface="Arial"/>
              </a:rPr>
              <a:t>ET25IMCA044</a:t>
            </a:r>
            <a:endParaRPr lang="en-US" sz="1143" dirty="0"/>
          </a:p>
          <a:p>
            <a:r>
              <a:rPr lang="en-US" sz="1100" dirty="0" err="1">
                <a:solidFill>
                  <a:srgbClr val="B8B8B8"/>
                </a:solidFill>
              </a:rPr>
              <a:t>HariKrushna</a:t>
            </a:r>
            <a:r>
              <a:rPr lang="en-US" sz="1100" dirty="0">
                <a:solidFill>
                  <a:srgbClr val="B8B8B8"/>
                </a:solidFill>
              </a:rPr>
              <a:t> - ET25IMCA008</a:t>
            </a:r>
            <a:endParaRPr lang="en-US" sz="114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8190" y="1088571"/>
            <a:ext cx="4438952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29" dirty="0">
                <a:solidFill>
                  <a:srgbClr val="949494"/>
                </a:solidFill>
              </a:rPr>
              <a:t>Agenda</a:t>
            </a:r>
            <a:endParaRPr lang="en-US" sz="3429" dirty="0"/>
          </a:p>
        </p:txBody>
      </p:sp>
      <p:pic>
        <p:nvPicPr>
          <p:cNvPr id="3" name="Image 0" descr="https://files.chroniclehq.com/ai-images/ai-generated-395dee43-6472-4f55-98c8-8595a53a32cf.png"/>
          <p:cNvPicPr>
            <a:picLocks noChangeAspect="1"/>
          </p:cNvPicPr>
          <p:nvPr/>
        </p:nvPicPr>
        <p:blipFill>
          <a:blip r:embed="rId3"/>
          <a:srcRect l="12365" r="12365"/>
          <a:stretch/>
        </p:blipFill>
        <p:spPr>
          <a:xfrm>
            <a:off x="338667" y="332619"/>
            <a:ext cx="3368524" cy="4475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88190" y="453571"/>
            <a:ext cx="4438952" cy="4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29" dirty="0">
                <a:solidFill>
                  <a:srgbClr val="F2F2F2"/>
                </a:solidFill>
              </a:rPr>
              <a:t>What we'll cover</a:t>
            </a:r>
            <a:endParaRPr lang="en-US" sz="3429" dirty="0"/>
          </a:p>
        </p:txBody>
      </p:sp>
      <p:sp>
        <p:nvSpPr>
          <p:cNvPr id="5" name="Text 2"/>
          <p:cNvSpPr/>
          <p:nvPr/>
        </p:nvSpPr>
        <p:spPr>
          <a:xfrm>
            <a:off x="4088190" y="1874762"/>
            <a:ext cx="4438952" cy="1827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Project Abstract</a:t>
            </a:r>
            <a:endParaRPr lang="en-US" sz="1524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Objective</a:t>
            </a:r>
            <a:endParaRPr lang="en-US" sz="1524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System Description</a:t>
            </a:r>
            <a:endParaRPr lang="en-US" sz="1524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Screenshots</a:t>
            </a:r>
            <a:endParaRPr lang="en-US" sz="1524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Test Cases</a:t>
            </a:r>
            <a:endParaRPr lang="en-US" sz="1524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24" kern="0" spc="-12" dirty="0">
                <a:solidFill>
                  <a:srgbClr val="F2F2F2"/>
                </a:solidFill>
              </a:rPr>
              <a:t>References</a:t>
            </a:r>
            <a:endParaRPr lang="en-US" sz="152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37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381" y="683381"/>
            <a:ext cx="381000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141414"/>
                </a:solidFill>
              </a:rPr>
              <a:t>Project abstract</a:t>
            </a:r>
            <a:endParaRPr lang="en-US" sz="2286" dirty="0"/>
          </a:p>
        </p:txBody>
      </p:sp>
      <p:sp>
        <p:nvSpPr>
          <p:cNvPr id="4" name="Text 1"/>
          <p:cNvSpPr/>
          <p:nvPr/>
        </p:nvSpPr>
        <p:spPr>
          <a:xfrm>
            <a:off x="626312" y="1286956"/>
            <a:ext cx="4736471" cy="2718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62626"/>
                </a:solidFill>
              </a:rPr>
              <a:t>AYH Mart self checkout system</a:t>
            </a:r>
            <a:endParaRPr lang="en-US" sz="1200">
              <a:cs typeface="Arial"/>
            </a:endParaRPr>
          </a:p>
          <a:p>
            <a:endParaRPr lang="en-US" sz="1200" b="1" dirty="0">
              <a:solidFill>
                <a:srgbClr val="262626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AYH Mart is a console-based self checkout system developed in C, designed for a retail store in Surat, India. It allows customers to independently browse products, add items to a cart, and complete purchases via Cash or UPI QR Code payment.</a:t>
            </a:r>
            <a:endParaRPr lang="en-US" sz="1200">
              <a:cs typeface="Arial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The system supports three user roles - Customer, Staff, and Admin - each with a dedicated portal. Key features include product inventory management, a tiered membership discount program (Silver, Gold, Platinum), customer account management, and a detailed sales reporting module.</a:t>
            </a:r>
            <a:endParaRPr lang="en-US" sz="1200">
              <a:cs typeface="Arial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All data is managed in-memory using C structures, making the system lightweight, efficient, and fully functional as a retail management solution</a:t>
            </a:r>
            <a:r>
              <a:rPr lang="en-US" sz="950" dirty="0">
                <a:solidFill>
                  <a:srgbClr val="262626"/>
                </a:solidFill>
              </a:rPr>
              <a:t>.</a:t>
            </a:r>
            <a:endParaRPr lang="en-US" sz="950" dirty="0"/>
          </a:p>
        </p:txBody>
      </p:sp>
      <p:pic>
        <p:nvPicPr>
          <p:cNvPr id="5" name="Image 1" descr="https://files.chroniclehq.com/ai-images/ai-generated-1f6119dd-f5c9-470a-852e-1ab7af624b6d.png"/>
          <p:cNvPicPr>
            <a:picLocks noChangeAspect="1"/>
          </p:cNvPicPr>
          <p:nvPr/>
        </p:nvPicPr>
        <p:blipFill>
          <a:blip r:embed="rId4"/>
          <a:srcRect l="11053" r="11053"/>
          <a:stretch/>
        </p:blipFill>
        <p:spPr>
          <a:xfrm>
            <a:off x="5491238" y="562429"/>
            <a:ext cx="3132667" cy="4021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571" y="356810"/>
            <a:ext cx="7474857" cy="38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Project objectives</a:t>
            </a:r>
            <a:endParaRPr lang="en-US" sz="3048" dirty="0"/>
          </a:p>
        </p:txBody>
      </p:sp>
      <p:sp>
        <p:nvSpPr>
          <p:cNvPr id="3" name="Shape 1"/>
          <p:cNvSpPr/>
          <p:nvPr/>
        </p:nvSpPr>
        <p:spPr>
          <a:xfrm>
            <a:off x="834571" y="102809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14" y="1173238"/>
            <a:ext cx="169333" cy="1693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9714" y="1451429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C-based system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Functional self-checkout system built in C for a real retail environment.</a:t>
            </a:r>
            <a:endParaRPr lang="en-US" sz="1143" dirty="0"/>
          </a:p>
        </p:txBody>
      </p:sp>
      <p:sp>
        <p:nvSpPr>
          <p:cNvPr id="6" name="Shape 3"/>
          <p:cNvSpPr/>
          <p:nvPr/>
        </p:nvSpPr>
        <p:spPr>
          <a:xfrm>
            <a:off x="834571" y="244323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7" name="Shape 4"/>
          <p:cNvSpPr/>
          <p:nvPr/>
        </p:nvSpPr>
        <p:spPr>
          <a:xfrm>
            <a:off x="3398762" y="102809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3905" y="1173238"/>
            <a:ext cx="169333" cy="1693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43905" y="1451429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Role-based access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Separate access levels for Admin, Staff, and Customer users.</a:t>
            </a:r>
            <a:endParaRPr lang="en-US" sz="1143" dirty="0"/>
          </a:p>
        </p:txBody>
      </p:sp>
      <p:sp>
        <p:nvSpPr>
          <p:cNvPr id="10" name="Shape 6"/>
          <p:cNvSpPr/>
          <p:nvPr/>
        </p:nvSpPr>
        <p:spPr>
          <a:xfrm>
            <a:off x="3398762" y="244323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1" name="Shape 7"/>
          <p:cNvSpPr/>
          <p:nvPr/>
        </p:nvSpPr>
        <p:spPr>
          <a:xfrm>
            <a:off x="5962952" y="102809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8095" y="1173238"/>
            <a:ext cx="169333" cy="1693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08095" y="1451429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Inventory management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Add, Edit, Delete, and View products with cart and stock deduction.</a:t>
            </a:r>
            <a:endParaRPr lang="en-US" sz="1143" dirty="0"/>
          </a:p>
        </p:txBody>
      </p:sp>
      <p:sp>
        <p:nvSpPr>
          <p:cNvPr id="14" name="Shape 9"/>
          <p:cNvSpPr/>
          <p:nvPr/>
        </p:nvSpPr>
        <p:spPr>
          <a:xfrm>
            <a:off x="5962952" y="244323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5" name="Shape 10"/>
          <p:cNvSpPr/>
          <p:nvPr/>
        </p:nvSpPr>
        <p:spPr>
          <a:xfrm>
            <a:off x="834571" y="278190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714" y="2927048"/>
            <a:ext cx="169333" cy="1693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9714" y="3205238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Tiered membership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Silver (5%), Gold (10%), and Platinum (15%) discount tiers for members.</a:t>
            </a:r>
            <a:endParaRPr lang="en-US" sz="1143" dirty="0"/>
          </a:p>
        </p:txBody>
      </p:sp>
      <p:sp>
        <p:nvSpPr>
          <p:cNvPr id="18" name="Shape 12"/>
          <p:cNvSpPr/>
          <p:nvPr/>
        </p:nvSpPr>
        <p:spPr>
          <a:xfrm>
            <a:off x="834571" y="419704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9" name="Shape 13"/>
          <p:cNvSpPr/>
          <p:nvPr/>
        </p:nvSpPr>
        <p:spPr>
          <a:xfrm>
            <a:off x="3404810" y="278190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952" y="2927048"/>
            <a:ext cx="169333" cy="16933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49952" y="3205238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Dual payment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Cash with change calculation and UPI QR Code payment support.</a:t>
            </a:r>
            <a:endParaRPr lang="en-US" sz="1143" dirty="0"/>
          </a:p>
        </p:txBody>
      </p:sp>
      <p:sp>
        <p:nvSpPr>
          <p:cNvPr id="22" name="Shape 15"/>
          <p:cNvSpPr/>
          <p:nvPr/>
        </p:nvSpPr>
        <p:spPr>
          <a:xfrm>
            <a:off x="3404810" y="419704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23" name="Shape 16"/>
          <p:cNvSpPr/>
          <p:nvPr/>
        </p:nvSpPr>
        <p:spPr>
          <a:xfrm>
            <a:off x="5962952" y="2781905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8095" y="2927048"/>
            <a:ext cx="169333" cy="16933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08095" y="3205238"/>
            <a:ext cx="2062238" cy="113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Sales reports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Revenue, discount, and product-wise reports with structured data records.</a:t>
            </a:r>
            <a:endParaRPr lang="en-US" sz="1143" dirty="0"/>
          </a:p>
        </p:txBody>
      </p:sp>
      <p:sp>
        <p:nvSpPr>
          <p:cNvPr id="26" name="Shape 18"/>
          <p:cNvSpPr/>
          <p:nvPr/>
        </p:nvSpPr>
        <p:spPr>
          <a:xfrm>
            <a:off x="5962952" y="4197048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725714"/>
            <a:ext cx="5442857" cy="290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F2F2F2"/>
                </a:solidFill>
              </a:rPr>
              <a:t>System description</a:t>
            </a:r>
            <a:endParaRPr lang="en-US" sz="2286" dirty="0"/>
          </a:p>
        </p:txBody>
      </p:sp>
      <p:sp>
        <p:nvSpPr>
          <p:cNvPr id="3" name="Text 1"/>
          <p:cNvSpPr/>
          <p:nvPr/>
        </p:nvSpPr>
        <p:spPr>
          <a:xfrm>
            <a:off x="423333" y="1088571"/>
            <a:ext cx="5442857" cy="1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97948C"/>
                </a:solidFill>
              </a:rPr>
              <a:t>Languages, libraries, data structures and architecture</a:t>
            </a:r>
            <a:endParaRPr lang="en-US" sz="952" dirty="0"/>
          </a:p>
        </p:txBody>
      </p:sp>
      <p:sp>
        <p:nvSpPr>
          <p:cNvPr id="4" name="Shape 2"/>
          <p:cNvSpPr/>
          <p:nvPr/>
        </p:nvSpPr>
        <p:spPr>
          <a:xfrm>
            <a:off x="423333" y="1324429"/>
            <a:ext cx="2540000" cy="1572381"/>
          </a:xfrm>
          <a:prstGeom prst="roundRect">
            <a:avLst>
              <a:gd name="adj" fmla="val 6154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/>
          <p:nvPr/>
        </p:nvSpPr>
        <p:spPr>
          <a:xfrm>
            <a:off x="568476" y="1469571"/>
            <a:ext cx="2249714" cy="142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Language &amp; Platform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 (Standard C)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Windows Console App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GCC / MinGW / Dev-C++ / Code::Blocks</a:t>
            </a:r>
            <a:endParaRPr lang="en-US" sz="1143" dirty="0"/>
          </a:p>
        </p:txBody>
      </p:sp>
      <p:sp>
        <p:nvSpPr>
          <p:cNvPr id="6" name="Shape 4"/>
          <p:cNvSpPr/>
          <p:nvPr/>
        </p:nvSpPr>
        <p:spPr>
          <a:xfrm>
            <a:off x="423333" y="2751667"/>
            <a:ext cx="2540000" cy="145143"/>
          </a:xfrm>
          <a:custGeom>
            <a:avLst/>
            <a:gdLst/>
            <a:ahLst/>
            <a:cxnLst/>
            <a:rect l="l" t="t" r="r" b="b"/>
            <a:pathLst>
              <a:path w="2540000" h="145143">
                <a:moveTo>
                  <a:pt x="0" y="0"/>
                </a:moveTo>
                <a:lnTo>
                  <a:pt x="2540000" y="0"/>
                </a:lnTo>
                <a:lnTo>
                  <a:pt x="2540000" y="48381"/>
                </a:lnTo>
                <a:cubicBezTo>
                  <a:pt x="2540000" y="101821"/>
                  <a:pt x="2496678" y="145143"/>
                  <a:pt x="2443238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7" name="Shape 5"/>
          <p:cNvSpPr/>
          <p:nvPr/>
        </p:nvSpPr>
        <p:spPr>
          <a:xfrm>
            <a:off x="3144762" y="1312333"/>
            <a:ext cx="2540000" cy="1753810"/>
          </a:xfrm>
          <a:prstGeom prst="roundRect">
            <a:avLst>
              <a:gd name="adj" fmla="val 5517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3289905" y="1457476"/>
            <a:ext cx="2249714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Libraries used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B8B8B8">
                    <a:alpha val="34000"/>
                  </a:srgbClr>
                </a:solidFill>
              </a:rPr>
              <a:t>stdio.h — I/O operations</a:t>
            </a:r>
            <a:endParaRPr lang="en-US" sz="950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string.h — String handling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ctype.h — Char classification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stdlib.h — System calls, exit()</a:t>
            </a:r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windows.h — UTF-8 / Unicode support</a:t>
            </a:r>
          </a:p>
        </p:txBody>
      </p:sp>
      <p:sp>
        <p:nvSpPr>
          <p:cNvPr id="9" name="Shape 7"/>
          <p:cNvSpPr/>
          <p:nvPr/>
        </p:nvSpPr>
        <p:spPr>
          <a:xfrm>
            <a:off x="3144762" y="2921000"/>
            <a:ext cx="2540000" cy="145143"/>
          </a:xfrm>
          <a:custGeom>
            <a:avLst/>
            <a:gdLst/>
            <a:ahLst/>
            <a:cxnLst/>
            <a:rect l="l" t="t" r="r" b="b"/>
            <a:pathLst>
              <a:path w="2540000" h="145143">
                <a:moveTo>
                  <a:pt x="0" y="0"/>
                </a:moveTo>
                <a:lnTo>
                  <a:pt x="2540000" y="0"/>
                </a:lnTo>
                <a:lnTo>
                  <a:pt x="2540000" y="48381"/>
                </a:lnTo>
                <a:cubicBezTo>
                  <a:pt x="2540000" y="101821"/>
                  <a:pt x="2496678" y="145143"/>
                  <a:pt x="2443238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866190" y="1312333"/>
            <a:ext cx="2902857" cy="2068286"/>
          </a:xfrm>
          <a:prstGeom prst="roundRect">
            <a:avLst>
              <a:gd name="adj" fmla="val 4678"/>
            </a:avLst>
          </a:prstGeom>
          <a:solidFill>
            <a:srgbClr val="191919"/>
          </a:solidFill>
          <a:ln/>
        </p:spPr>
      </p:sp>
      <p:sp>
        <p:nvSpPr>
          <p:cNvPr id="11" name="Text 9"/>
          <p:cNvSpPr/>
          <p:nvPr/>
        </p:nvSpPr>
        <p:spPr>
          <a:xfrm>
            <a:off x="6011333" y="1457476"/>
            <a:ext cx="2612571" cy="192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Architecture</a:t>
            </a:r>
            <a:br/>
            <a:r>
              <a:rPr lang="en-US" sz="1143" dirty="0">
                <a:solidFill>
                  <a:srgbClr val="000000"/>
                </a:solidFill>
              </a:rPr>
              <a:t>​</a:t>
            </a:r>
            <a:r>
              <a:rPr lang="en-US" sz="1143" dirty="0">
                <a:solidFill>
                  <a:srgbClr val="B8B8B8">
                    <a:alpha val="56000"/>
                  </a:srgbClr>
                </a:solidFill>
              </a:rPr>
              <a:t>Menu-driven, modular function design.</a:t>
            </a:r>
            <a:br/>
            <a:r>
              <a:rPr lang="en-US" sz="1143" dirty="0">
                <a:solidFill>
                  <a:srgbClr val="000000"/>
                </a:solidFill>
              </a:rPr>
              <a:t>​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5 core modules: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Inventory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Members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Customer Self-Checkout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Sales Reports</a:t>
            </a:r>
            <a:endParaRPr lang="en-US" sz="1143" dirty="0"/>
          </a:p>
          <a:p>
            <a:pPr marL="127000" indent="-127000" algn="l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Customer Accounts</a:t>
            </a:r>
            <a:endParaRPr lang="en-US" sz="1143" dirty="0"/>
          </a:p>
        </p:txBody>
      </p:sp>
      <p:sp>
        <p:nvSpPr>
          <p:cNvPr id="12" name="Shape 10"/>
          <p:cNvSpPr/>
          <p:nvPr/>
        </p:nvSpPr>
        <p:spPr>
          <a:xfrm>
            <a:off x="5866190" y="3235476"/>
            <a:ext cx="2902857" cy="145143"/>
          </a:xfrm>
          <a:custGeom>
            <a:avLst/>
            <a:gdLst/>
            <a:ahLst/>
            <a:cxnLst/>
            <a:rect l="l" t="t" r="r" b="b"/>
            <a:pathLst>
              <a:path w="2902857" h="145143">
                <a:moveTo>
                  <a:pt x="0" y="0"/>
                </a:moveTo>
                <a:lnTo>
                  <a:pt x="2902857" y="0"/>
                </a:lnTo>
                <a:lnTo>
                  <a:pt x="2902857" y="48381"/>
                </a:lnTo>
                <a:cubicBezTo>
                  <a:pt x="2902857" y="101821"/>
                  <a:pt x="2859535" y="145143"/>
                  <a:pt x="2806095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423333" y="3205238"/>
            <a:ext cx="2540000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Data structures (structs)</a:t>
            </a:r>
            <a:endParaRPr lang="en-US" sz="1143" dirty="0"/>
          </a:p>
        </p:txBody>
      </p:sp>
      <p:sp>
        <p:nvSpPr>
          <p:cNvPr id="14" name="Shape 12"/>
          <p:cNvSpPr/>
          <p:nvPr/>
        </p:nvSpPr>
        <p:spPr>
          <a:xfrm>
            <a:off x="423333" y="3507619"/>
            <a:ext cx="1874762" cy="1088571"/>
          </a:xfrm>
          <a:prstGeom prst="roundRect">
            <a:avLst>
              <a:gd name="adj" fmla="val 8889"/>
            </a:avLst>
          </a:pr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568476" y="3652762"/>
            <a:ext cx="1584476" cy="943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en-US" sz="1100" dirty="0">
                <a:solidFill>
                  <a:srgbClr val="B8B8B8"/>
                </a:solidFill>
              </a:rPr>
              <a:t>Product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pCode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pName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pPrice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</a:t>
            </a:r>
            <a:endParaRPr lang="en-US" sz="1100" dirty="0" err="1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US" sz="1100" dirty="0">
              <a:solidFill>
                <a:srgbClr val="97948C">
                  <a:alpha val="56000"/>
                </a:srgb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pStock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pCategory</a:t>
            </a:r>
            <a:endParaRPr lang="en-US" sz="1100" dirty="0">
              <a:cs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3333" y="4451048"/>
            <a:ext cx="1874762" cy="145143"/>
          </a:xfrm>
          <a:custGeom>
            <a:avLst/>
            <a:gdLst/>
            <a:ahLst/>
            <a:cxnLst/>
            <a:rect l="l" t="t" r="r" b="b"/>
            <a:pathLst>
              <a:path w="1874762" h="145143">
                <a:moveTo>
                  <a:pt x="0" y="0"/>
                </a:moveTo>
                <a:lnTo>
                  <a:pt x="1874762" y="0"/>
                </a:lnTo>
                <a:lnTo>
                  <a:pt x="1874762" y="48381"/>
                </a:lnTo>
                <a:cubicBezTo>
                  <a:pt x="1874762" y="101821"/>
                  <a:pt x="1831440" y="145143"/>
                  <a:pt x="177800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7" name="Shape 15"/>
          <p:cNvSpPr/>
          <p:nvPr/>
        </p:nvSpPr>
        <p:spPr>
          <a:xfrm>
            <a:off x="2419048" y="3507619"/>
            <a:ext cx="1874762" cy="1088571"/>
          </a:xfrm>
          <a:prstGeom prst="roundRect">
            <a:avLst>
              <a:gd name="adj" fmla="val 8889"/>
            </a:avLst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2564190" y="3652762"/>
            <a:ext cx="1584476" cy="943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en-US" sz="1100" dirty="0">
                <a:solidFill>
                  <a:srgbClr val="B8B8B8"/>
                </a:solidFill>
              </a:rPr>
              <a:t>Member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r>
              <a:rPr lang="en-US" sz="1100" err="1">
                <a:solidFill>
                  <a:srgbClr val="97948C">
                    <a:alpha val="56000"/>
                  </a:srgbClr>
                </a:solidFill>
              </a:rPr>
              <a:t>mId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err="1">
                <a:solidFill>
                  <a:srgbClr val="97948C">
                    <a:alpha val="56000"/>
                  </a:srgbClr>
                </a:solidFill>
              </a:rPr>
              <a:t>mName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err="1">
                <a:solidFill>
                  <a:srgbClr val="97948C">
                    <a:alpha val="56000"/>
                  </a:srgbClr>
                </a:solidFill>
              </a:rPr>
              <a:t>mSpent</a:t>
            </a:r>
            <a:r>
              <a:rPr lang="en-US" sz="1100">
                <a:solidFill>
                  <a:srgbClr val="97948C">
                    <a:alpha val="56000"/>
                  </a:srgbClr>
                </a:solidFill>
              </a:rPr>
              <a:t> |</a:t>
            </a:r>
            <a:endParaRPr lang="en-US" sz="110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US" sz="1100" dirty="0">
              <a:solidFill>
                <a:srgbClr val="97948C">
                  <a:alpha val="56000"/>
                </a:srgbClr>
              </a:solidFill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mTier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mDisc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mUsed</a:t>
            </a:r>
            <a:endParaRPr lang="en-US" sz="1100">
              <a:cs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19048" y="4451048"/>
            <a:ext cx="1874762" cy="145143"/>
          </a:xfrm>
          <a:custGeom>
            <a:avLst/>
            <a:gdLst/>
            <a:ahLst/>
            <a:cxnLst/>
            <a:rect l="l" t="t" r="r" b="b"/>
            <a:pathLst>
              <a:path w="1874762" h="145143">
                <a:moveTo>
                  <a:pt x="0" y="0"/>
                </a:moveTo>
                <a:lnTo>
                  <a:pt x="1874762" y="0"/>
                </a:lnTo>
                <a:lnTo>
                  <a:pt x="1874762" y="48381"/>
                </a:lnTo>
                <a:cubicBezTo>
                  <a:pt x="1874762" y="101821"/>
                  <a:pt x="1831440" y="145143"/>
                  <a:pt x="177800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4762" y="3507619"/>
            <a:ext cx="1874762" cy="1088571"/>
          </a:xfrm>
          <a:prstGeom prst="roundRect">
            <a:avLst>
              <a:gd name="adj" fmla="val 8889"/>
            </a:avLst>
          </a:prstGeom>
          <a:solidFill>
            <a:srgbClr val="191919"/>
          </a:solidFill>
          <a:ln/>
        </p:spPr>
      </p:sp>
      <p:sp>
        <p:nvSpPr>
          <p:cNvPr id="21" name="Text 19"/>
          <p:cNvSpPr/>
          <p:nvPr/>
        </p:nvSpPr>
        <p:spPr>
          <a:xfrm>
            <a:off x="4559905" y="3652762"/>
            <a:ext cx="1584476" cy="943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B8B8B8"/>
                </a:solidFill>
              </a:rPr>
              <a:t>CartItem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code | name | price | qty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14762" y="4451048"/>
            <a:ext cx="1874762" cy="145143"/>
          </a:xfrm>
          <a:custGeom>
            <a:avLst/>
            <a:gdLst/>
            <a:ahLst/>
            <a:cxnLst/>
            <a:rect l="l" t="t" r="r" b="b"/>
            <a:pathLst>
              <a:path w="1874762" h="145143">
                <a:moveTo>
                  <a:pt x="0" y="0"/>
                </a:moveTo>
                <a:lnTo>
                  <a:pt x="1874762" y="0"/>
                </a:lnTo>
                <a:lnTo>
                  <a:pt x="1874762" y="48381"/>
                </a:lnTo>
                <a:cubicBezTo>
                  <a:pt x="1874762" y="101821"/>
                  <a:pt x="1831440" y="145143"/>
                  <a:pt x="177800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10476" y="3507619"/>
            <a:ext cx="2358571" cy="1360714"/>
          </a:xfrm>
          <a:prstGeom prst="roundRect">
            <a:avLst>
              <a:gd name="adj" fmla="val 7111"/>
            </a:avLst>
          </a:prstGeom>
          <a:solidFill>
            <a:srgbClr val="191919"/>
          </a:solidFill>
          <a:ln/>
        </p:spPr>
      </p:sp>
      <p:sp>
        <p:nvSpPr>
          <p:cNvPr id="24" name="Text 22"/>
          <p:cNvSpPr/>
          <p:nvPr/>
        </p:nvSpPr>
        <p:spPr>
          <a:xfrm>
            <a:off x="6555619" y="3652762"/>
            <a:ext cx="2068286" cy="121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en-US" sz="1100" dirty="0">
                <a:solidFill>
                  <a:srgbClr val="B8B8B8"/>
                </a:solidFill>
              </a:rPr>
              <a:t>Sale &amp; Customer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Sale: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pCode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pName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 qty | price | total</a:t>
            </a:r>
            <a:endParaRPr lang="en-US" sz="11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br>
              <a:rPr dirty="0"/>
            </a:br>
            <a:r>
              <a:rPr lang="en-US" sz="1100" dirty="0">
                <a:solidFill>
                  <a:srgbClr val="000000"/>
                </a:solidFill>
              </a:rPr>
              <a:t>​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Customer: 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cId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cName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cPass</a:t>
            </a:r>
            <a:r>
              <a:rPr lang="en-US" sz="1100" dirty="0">
                <a:solidFill>
                  <a:srgbClr val="97948C">
                    <a:alpha val="56000"/>
                  </a:srgbClr>
                </a:solidFill>
              </a:rPr>
              <a:t> | </a:t>
            </a:r>
            <a:r>
              <a:rPr lang="en-US" sz="1100" dirty="0" err="1">
                <a:solidFill>
                  <a:srgbClr val="97948C">
                    <a:alpha val="56000"/>
                  </a:srgbClr>
                </a:solidFill>
              </a:rPr>
              <a:t>cMemberId</a:t>
            </a:r>
            <a:endParaRPr lang="en-US" sz="1100" dirty="0" err="1">
              <a:cs typeface="Arial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10476" y="4723190"/>
            <a:ext cx="2358571" cy="145143"/>
          </a:xfrm>
          <a:custGeom>
            <a:avLst/>
            <a:gdLst/>
            <a:ahLst/>
            <a:cxnLst/>
            <a:rect l="l" t="t" r="r" b="b"/>
            <a:pathLst>
              <a:path w="2358571" h="145143">
                <a:moveTo>
                  <a:pt x="0" y="0"/>
                </a:moveTo>
                <a:lnTo>
                  <a:pt x="2358571" y="0"/>
                </a:lnTo>
                <a:lnTo>
                  <a:pt x="2358571" y="48381"/>
                </a:lnTo>
                <a:cubicBezTo>
                  <a:pt x="2358571" y="101821"/>
                  <a:pt x="2315250" y="145143"/>
                  <a:pt x="226181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190" y="338667"/>
            <a:ext cx="7976810" cy="290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86" dirty="0">
                <a:solidFill>
                  <a:srgbClr val="F2F2F2"/>
                </a:solidFill>
              </a:rPr>
              <a:t>Screenshots</a:t>
            </a:r>
            <a:endParaRPr lang="en-US" sz="2286" dirty="0"/>
          </a:p>
        </p:txBody>
      </p:sp>
      <p:pic>
        <p:nvPicPr>
          <p:cNvPr id="3" name="Image 0" descr="https://files.chroniclehq.com/ai-images/ai-generated-1e167358-b19c-4596-8cb9-8fc7b9dc5db4.png"/>
          <p:cNvPicPr>
            <a:picLocks noChangeAspect="1"/>
          </p:cNvPicPr>
          <p:nvPr/>
        </p:nvPicPr>
        <p:blipFill>
          <a:blip r:embed="rId3"/>
          <a:srcRect t="4370" b="4370"/>
          <a:stretch/>
        </p:blipFill>
        <p:spPr>
          <a:xfrm>
            <a:off x="405190" y="1161143"/>
            <a:ext cx="2352524" cy="2146905"/>
          </a:xfrm>
          <a:prstGeom prst="rect">
            <a:avLst/>
          </a:prstGeom>
        </p:spPr>
      </p:pic>
      <p:pic>
        <p:nvPicPr>
          <p:cNvPr id="4" name="Image 1" descr="https://files.chroniclehq.com/ai-images/ai-generated-6a58b7ca-dc70-4076-9dd5-5489903af30d.png"/>
          <p:cNvPicPr>
            <a:picLocks noChangeAspect="1"/>
          </p:cNvPicPr>
          <p:nvPr/>
        </p:nvPicPr>
        <p:blipFill>
          <a:blip r:embed="rId4"/>
          <a:srcRect t="4370" b="4370"/>
          <a:stretch/>
        </p:blipFill>
        <p:spPr>
          <a:xfrm>
            <a:off x="3332238" y="1161143"/>
            <a:ext cx="2352524" cy="2146905"/>
          </a:xfrm>
          <a:prstGeom prst="rect">
            <a:avLst/>
          </a:prstGeom>
        </p:spPr>
      </p:pic>
      <p:pic>
        <p:nvPicPr>
          <p:cNvPr id="5" name="Image 2" descr="https://files.chroniclehq.com/ai-images/ai-generated-43a385f8-5f31-4505-9177-70675282c6b0.png"/>
          <p:cNvPicPr>
            <a:picLocks noChangeAspect="1"/>
          </p:cNvPicPr>
          <p:nvPr/>
        </p:nvPicPr>
        <p:blipFill>
          <a:blip r:embed="rId5"/>
          <a:srcRect t="4370" b="4370"/>
          <a:stretch/>
        </p:blipFill>
        <p:spPr>
          <a:xfrm>
            <a:off x="6283476" y="1155095"/>
            <a:ext cx="2352524" cy="214690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06909" y="3473748"/>
            <a:ext cx="2352524" cy="10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2" dirty="0">
                <a:solidFill>
                  <a:srgbClr val="B8B8B8"/>
                </a:solidFill>
              </a:rPr>
              <a:t>Main menu and login</a:t>
            </a:r>
            <a:endParaRPr lang="en-US" sz="762" dirty="0"/>
          </a:p>
        </p:txBody>
      </p:sp>
      <p:sp>
        <p:nvSpPr>
          <p:cNvPr id="7" name="Text 2"/>
          <p:cNvSpPr/>
          <p:nvPr/>
        </p:nvSpPr>
        <p:spPr>
          <a:xfrm>
            <a:off x="405190" y="3592286"/>
            <a:ext cx="2352524" cy="33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Role selection: Customer, Staff, Admin</a:t>
            </a:r>
            <a:endParaRPr lang="en-US" sz="667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Customer login and self-checkout menu</a:t>
            </a:r>
            <a:endParaRPr lang="en-US" sz="667" dirty="0"/>
          </a:p>
        </p:txBody>
      </p:sp>
      <p:sp>
        <p:nvSpPr>
          <p:cNvPr id="8" name="Text 3"/>
          <p:cNvSpPr/>
          <p:nvPr/>
        </p:nvSpPr>
        <p:spPr>
          <a:xfrm>
            <a:off x="3353218" y="3473748"/>
            <a:ext cx="2352524" cy="10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2" dirty="0">
                <a:solidFill>
                  <a:srgbClr val="B8B8B8"/>
                </a:solidFill>
              </a:rPr>
              <a:t>Product and cart flow</a:t>
            </a:r>
            <a:endParaRPr lang="en-US" sz="762" dirty="0"/>
          </a:p>
        </p:txBody>
      </p:sp>
      <p:sp>
        <p:nvSpPr>
          <p:cNvPr id="9" name="Text 4"/>
          <p:cNvSpPr/>
          <p:nvPr/>
        </p:nvSpPr>
        <p:spPr>
          <a:xfrm>
            <a:off x="3332238" y="3592286"/>
            <a:ext cx="2352524" cy="33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Product list: Code, Name, Price, Stock</a:t>
            </a:r>
            <a:endParaRPr lang="en-US" sz="667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Add to cart and Admin inventory table</a:t>
            </a:r>
            <a:endParaRPr lang="en-US" sz="667" dirty="0"/>
          </a:p>
        </p:txBody>
      </p:sp>
      <p:sp>
        <p:nvSpPr>
          <p:cNvPr id="10" name="Text 5"/>
          <p:cNvSpPr/>
          <p:nvPr/>
        </p:nvSpPr>
        <p:spPr>
          <a:xfrm>
            <a:off x="6353956" y="3473748"/>
            <a:ext cx="2352524" cy="10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2" dirty="0">
                <a:solidFill>
                  <a:srgbClr val="B8B8B8"/>
                </a:solidFill>
              </a:rPr>
              <a:t>Checkout and payment</a:t>
            </a:r>
            <a:endParaRPr lang="en-US" sz="762" dirty="0"/>
          </a:p>
        </p:txBody>
      </p:sp>
      <p:sp>
        <p:nvSpPr>
          <p:cNvPr id="11" name="Text 6"/>
          <p:cNvSpPr/>
          <p:nvPr/>
        </p:nvSpPr>
        <p:spPr>
          <a:xfrm>
            <a:off x="6356048" y="3592286"/>
            <a:ext cx="2352524" cy="33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Subtotal, discount, payable amount</a:t>
            </a:r>
            <a:endParaRPr lang="en-US" sz="667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667" dirty="0">
                <a:solidFill>
                  <a:srgbClr val="808080"/>
                </a:solidFill>
              </a:rPr>
              <a:t>QR code UPI payment and sales report</a:t>
            </a:r>
            <a:endParaRPr lang="en-US" sz="6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381" y="338667"/>
            <a:ext cx="7988905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Test cases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556381" y="834571"/>
            <a:ext cx="7988905" cy="17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All 12 test cases passed. AYH MART Self Checkout System - functional validation results.</a:t>
            </a:r>
            <a:endParaRPr lang="en-US" sz="1143" dirty="0"/>
          </a:p>
        </p:txBody>
      </p:sp>
      <p:pic>
        <p:nvPicPr>
          <p:cNvPr id="4" name="Image 0" descr="https://files.chroniclehq.com/84f681bf-73c2-4ebf-b1db-1b5294f645fb-Gray_horizontal_line.png"/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>
            <a:off x="561475" y="1586570"/>
            <a:ext cx="7946571" cy="16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429" y="1300238"/>
            <a:ext cx="36285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#</a:t>
            </a:r>
            <a:endParaRPr lang="en-US" sz="1524" dirty="0"/>
          </a:p>
        </p:txBody>
      </p:sp>
      <p:sp>
        <p:nvSpPr>
          <p:cNvPr id="6" name="Text 3"/>
          <p:cNvSpPr/>
          <p:nvPr/>
        </p:nvSpPr>
        <p:spPr>
          <a:xfrm>
            <a:off x="979714" y="1300238"/>
            <a:ext cx="187476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Test Case</a:t>
            </a:r>
            <a:endParaRPr lang="en-US" sz="1524" dirty="0"/>
          </a:p>
        </p:txBody>
      </p:sp>
      <p:sp>
        <p:nvSpPr>
          <p:cNvPr id="7" name="Text 4"/>
          <p:cNvSpPr/>
          <p:nvPr/>
        </p:nvSpPr>
        <p:spPr>
          <a:xfrm>
            <a:off x="2902857" y="1300238"/>
            <a:ext cx="157238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Input</a:t>
            </a:r>
            <a:endParaRPr lang="en-US" sz="1524" dirty="0"/>
          </a:p>
        </p:txBody>
      </p:sp>
      <p:sp>
        <p:nvSpPr>
          <p:cNvPr id="8" name="Text 5"/>
          <p:cNvSpPr/>
          <p:nvPr/>
        </p:nvSpPr>
        <p:spPr>
          <a:xfrm>
            <a:off x="4523619" y="1300238"/>
            <a:ext cx="36285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Expected Output</a:t>
            </a:r>
            <a:endParaRPr lang="en-US" sz="1524" dirty="0"/>
          </a:p>
        </p:txBody>
      </p:sp>
      <p:sp>
        <p:nvSpPr>
          <p:cNvPr id="9" name="Text 6"/>
          <p:cNvSpPr/>
          <p:nvPr/>
        </p:nvSpPr>
        <p:spPr>
          <a:xfrm>
            <a:off x="7982857" y="1300238"/>
            <a:ext cx="60476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Result</a:t>
            </a:r>
            <a:endParaRPr lang="en-US" sz="1524" dirty="0"/>
          </a:p>
        </p:txBody>
      </p:sp>
      <p:sp>
        <p:nvSpPr>
          <p:cNvPr id="10" name="Text 7"/>
          <p:cNvSpPr/>
          <p:nvPr/>
        </p:nvSpPr>
        <p:spPr>
          <a:xfrm>
            <a:off x="574524" y="1765905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01</a:t>
            </a:r>
            <a:endParaRPr lang="en-US" sz="1143" dirty="0"/>
          </a:p>
        </p:txBody>
      </p:sp>
      <p:sp>
        <p:nvSpPr>
          <p:cNvPr id="11" name="Text 8"/>
          <p:cNvSpPr/>
          <p:nvPr/>
        </p:nvSpPr>
        <p:spPr>
          <a:xfrm>
            <a:off x="991810" y="1765905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Customer login - valid</a:t>
            </a:r>
            <a:endParaRPr lang="en-US" sz="1143" dirty="0"/>
          </a:p>
        </p:txBody>
      </p:sp>
      <p:sp>
        <p:nvSpPr>
          <p:cNvPr id="12" name="Text 9"/>
          <p:cNvSpPr/>
          <p:nvPr/>
        </p:nvSpPr>
        <p:spPr>
          <a:xfrm>
            <a:off x="2914952" y="1765905"/>
            <a:ext cx="1572381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Correct ID and password</a:t>
            </a:r>
            <a:endParaRPr lang="en-US" sz="1143" dirty="0"/>
          </a:p>
        </p:txBody>
      </p:sp>
      <p:sp>
        <p:nvSpPr>
          <p:cNvPr id="13" name="Text 10"/>
          <p:cNvSpPr/>
          <p:nvPr/>
        </p:nvSpPr>
        <p:spPr>
          <a:xfrm>
            <a:off x="4535714" y="1765905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"Welcome, Name!"</a:t>
            </a:r>
            <a:endParaRPr lang="en-US" sz="1143" dirty="0"/>
          </a:p>
        </p:txBody>
      </p:sp>
      <p:sp>
        <p:nvSpPr>
          <p:cNvPr id="14" name="Text 11"/>
          <p:cNvSpPr/>
          <p:nvPr/>
        </p:nvSpPr>
        <p:spPr>
          <a:xfrm>
            <a:off x="7994952" y="1771952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pic>
        <p:nvPicPr>
          <p:cNvPr id="15" name="Image 1" descr="https://files.chroniclehq.com/1c501c36-f81b-4c59-a969-174d488d3f5c-Gray_dotted_horizontal_line.png"/>
          <p:cNvPicPr>
            <a:picLocks noChangeAspect="1"/>
          </p:cNvPicPr>
          <p:nvPr/>
        </p:nvPicPr>
        <p:blipFill>
          <a:blip r:embed="rId4"/>
          <a:srcRect t="49239" b="49239"/>
          <a:stretch/>
        </p:blipFill>
        <p:spPr>
          <a:xfrm flipV="1">
            <a:off x="568709" y="2115971"/>
            <a:ext cx="7965411" cy="297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4524" y="2358571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02</a:t>
            </a:r>
            <a:endParaRPr lang="en-US" sz="1143" dirty="0"/>
          </a:p>
        </p:txBody>
      </p:sp>
      <p:sp>
        <p:nvSpPr>
          <p:cNvPr id="17" name="Text 13"/>
          <p:cNvSpPr/>
          <p:nvPr/>
        </p:nvSpPr>
        <p:spPr>
          <a:xfrm>
            <a:off x="991810" y="2358571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Customer login - invalid</a:t>
            </a:r>
            <a:endParaRPr lang="en-US" sz="1143" dirty="0"/>
          </a:p>
        </p:txBody>
      </p:sp>
      <p:sp>
        <p:nvSpPr>
          <p:cNvPr id="18" name="Text 14"/>
          <p:cNvSpPr/>
          <p:nvPr/>
        </p:nvSpPr>
        <p:spPr>
          <a:xfrm>
            <a:off x="2914952" y="2358571"/>
            <a:ext cx="1572381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Wrong ID or password</a:t>
            </a:r>
            <a:endParaRPr lang="en-US" sz="1143" dirty="0"/>
          </a:p>
        </p:txBody>
      </p:sp>
      <p:sp>
        <p:nvSpPr>
          <p:cNvPr id="19" name="Text 15"/>
          <p:cNvSpPr/>
          <p:nvPr/>
        </p:nvSpPr>
        <p:spPr>
          <a:xfrm>
            <a:off x="4535714" y="2358571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Invalid Customer ID or Password</a:t>
            </a:r>
            <a:endParaRPr lang="en-US" sz="1143" dirty="0"/>
          </a:p>
        </p:txBody>
      </p:sp>
      <p:sp>
        <p:nvSpPr>
          <p:cNvPr id="20" name="Text 16"/>
          <p:cNvSpPr/>
          <p:nvPr/>
        </p:nvSpPr>
        <p:spPr>
          <a:xfrm>
            <a:off x="8001000" y="2358571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22" name="Text 17"/>
          <p:cNvSpPr/>
          <p:nvPr/>
        </p:nvSpPr>
        <p:spPr>
          <a:xfrm>
            <a:off x="580571" y="2721429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03</a:t>
            </a:r>
            <a:endParaRPr lang="en-US" sz="1143" dirty="0"/>
          </a:p>
        </p:txBody>
      </p:sp>
      <p:sp>
        <p:nvSpPr>
          <p:cNvPr id="23" name="Text 18"/>
          <p:cNvSpPr/>
          <p:nvPr/>
        </p:nvSpPr>
        <p:spPr>
          <a:xfrm>
            <a:off x="991810" y="2739571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Add to cart - valid product</a:t>
            </a:r>
            <a:endParaRPr lang="en-US" sz="1143" dirty="0"/>
          </a:p>
        </p:txBody>
      </p:sp>
      <p:sp>
        <p:nvSpPr>
          <p:cNvPr id="24" name="Text 19"/>
          <p:cNvSpPr/>
          <p:nvPr/>
        </p:nvSpPr>
        <p:spPr>
          <a:xfrm>
            <a:off x="2914952" y="2739571"/>
            <a:ext cx="1572381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Correct code, qty ≤ stock</a:t>
            </a:r>
            <a:endParaRPr lang="en-US" sz="1143" dirty="0"/>
          </a:p>
        </p:txBody>
      </p:sp>
      <p:sp>
        <p:nvSpPr>
          <p:cNvPr id="25" name="Text 20"/>
          <p:cNvSpPr/>
          <p:nvPr/>
        </p:nvSpPr>
        <p:spPr>
          <a:xfrm>
            <a:off x="4535714" y="2739571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Item added to basket</a:t>
            </a:r>
            <a:endParaRPr lang="en-US" sz="1143" dirty="0"/>
          </a:p>
        </p:txBody>
      </p:sp>
      <p:sp>
        <p:nvSpPr>
          <p:cNvPr id="26" name="Text 21"/>
          <p:cNvSpPr/>
          <p:nvPr/>
        </p:nvSpPr>
        <p:spPr>
          <a:xfrm>
            <a:off x="8001000" y="2739571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28" name="Text 22"/>
          <p:cNvSpPr/>
          <p:nvPr/>
        </p:nvSpPr>
        <p:spPr>
          <a:xfrm>
            <a:off x="574524" y="3314095"/>
            <a:ext cx="36285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04</a:t>
            </a:r>
            <a:endParaRPr lang="en-US" sz="1143" dirty="0"/>
          </a:p>
        </p:txBody>
      </p:sp>
      <p:sp>
        <p:nvSpPr>
          <p:cNvPr id="29" name="Text 23"/>
          <p:cNvSpPr/>
          <p:nvPr/>
        </p:nvSpPr>
        <p:spPr>
          <a:xfrm>
            <a:off x="991810" y="3314095"/>
            <a:ext cx="1874762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Add to cart - insufficient stock</a:t>
            </a:r>
            <a:endParaRPr lang="en-US" sz="1143" dirty="0"/>
          </a:p>
        </p:txBody>
      </p:sp>
      <p:sp>
        <p:nvSpPr>
          <p:cNvPr id="30" name="Text 24"/>
          <p:cNvSpPr/>
          <p:nvPr/>
        </p:nvSpPr>
        <p:spPr>
          <a:xfrm>
            <a:off x="2914952" y="3314095"/>
            <a:ext cx="1572381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qty &gt; available stock</a:t>
            </a:r>
            <a:endParaRPr lang="en-US" sz="1143" dirty="0"/>
          </a:p>
        </p:txBody>
      </p:sp>
      <p:sp>
        <p:nvSpPr>
          <p:cNvPr id="31" name="Text 25"/>
          <p:cNvSpPr/>
          <p:nvPr/>
        </p:nvSpPr>
        <p:spPr>
          <a:xfrm>
            <a:off x="4535714" y="3314095"/>
            <a:ext cx="338666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Insufficient stock warning</a:t>
            </a:r>
            <a:endParaRPr lang="en-US" sz="1143" dirty="0"/>
          </a:p>
        </p:txBody>
      </p:sp>
      <p:sp>
        <p:nvSpPr>
          <p:cNvPr id="32" name="Text 26"/>
          <p:cNvSpPr/>
          <p:nvPr/>
        </p:nvSpPr>
        <p:spPr>
          <a:xfrm>
            <a:off x="8001000" y="3314095"/>
            <a:ext cx="604762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34" name="Text 27"/>
          <p:cNvSpPr/>
          <p:nvPr/>
        </p:nvSpPr>
        <p:spPr>
          <a:xfrm>
            <a:off x="574524" y="3937000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05</a:t>
            </a:r>
            <a:endParaRPr lang="en-US" sz="1143" dirty="0"/>
          </a:p>
        </p:txBody>
      </p:sp>
      <p:sp>
        <p:nvSpPr>
          <p:cNvPr id="35" name="Text 28"/>
          <p:cNvSpPr/>
          <p:nvPr/>
        </p:nvSpPr>
        <p:spPr>
          <a:xfrm>
            <a:off x="985762" y="3937000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Membership discount - valid</a:t>
            </a:r>
            <a:endParaRPr lang="en-US" sz="1143" dirty="0"/>
          </a:p>
        </p:txBody>
      </p:sp>
      <p:sp>
        <p:nvSpPr>
          <p:cNvPr id="36" name="Text 29"/>
          <p:cNvSpPr/>
          <p:nvPr/>
        </p:nvSpPr>
        <p:spPr>
          <a:xfrm>
            <a:off x="2908905" y="3937000"/>
            <a:ext cx="1572381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Member ID with active card</a:t>
            </a:r>
            <a:endParaRPr lang="en-US" sz="1143" dirty="0"/>
          </a:p>
        </p:txBody>
      </p:sp>
      <p:sp>
        <p:nvSpPr>
          <p:cNvPr id="37" name="Text 30"/>
          <p:cNvSpPr/>
          <p:nvPr/>
        </p:nvSpPr>
        <p:spPr>
          <a:xfrm>
            <a:off x="4529667" y="3937000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Discount applied, card marked Used</a:t>
            </a:r>
            <a:endParaRPr lang="en-US" sz="1143" dirty="0"/>
          </a:p>
        </p:txBody>
      </p:sp>
      <p:sp>
        <p:nvSpPr>
          <p:cNvPr id="38" name="Text 31"/>
          <p:cNvSpPr/>
          <p:nvPr/>
        </p:nvSpPr>
        <p:spPr>
          <a:xfrm>
            <a:off x="7994952" y="3937000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pic>
        <p:nvPicPr>
          <p:cNvPr id="39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A5A5117E-FB96-7CE4-7245-AF1AF2EA27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39" b="49239"/>
          <a:stretch/>
        </p:blipFill>
        <p:spPr>
          <a:xfrm flipV="1">
            <a:off x="581269" y="2643509"/>
            <a:ext cx="7965411" cy="29772"/>
          </a:xfrm>
          <a:prstGeom prst="rect">
            <a:avLst/>
          </a:prstGeom>
        </p:spPr>
      </p:pic>
      <p:pic>
        <p:nvPicPr>
          <p:cNvPr id="40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126E2B9D-17D6-8CA3-F4AD-94C7593DCB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39" b="49239"/>
          <a:stretch/>
        </p:blipFill>
        <p:spPr>
          <a:xfrm flipV="1">
            <a:off x="581269" y="3145927"/>
            <a:ext cx="7965411" cy="29772"/>
          </a:xfrm>
          <a:prstGeom prst="rect">
            <a:avLst/>
          </a:prstGeom>
        </p:spPr>
      </p:pic>
      <p:pic>
        <p:nvPicPr>
          <p:cNvPr id="41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7CE93F72-D2F9-B378-A5ED-187E7DE26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39" b="49239"/>
          <a:stretch/>
        </p:blipFill>
        <p:spPr>
          <a:xfrm flipV="1">
            <a:off x="574989" y="3711146"/>
            <a:ext cx="7965411" cy="29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190" y="1390952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06</a:t>
            </a:r>
            <a:endParaRPr lang="en-US" sz="1143" dirty="0"/>
          </a:p>
        </p:txBody>
      </p:sp>
      <p:sp>
        <p:nvSpPr>
          <p:cNvPr id="3" name="Text 1"/>
          <p:cNvSpPr/>
          <p:nvPr/>
        </p:nvSpPr>
        <p:spPr>
          <a:xfrm>
            <a:off x="822476" y="1372810"/>
            <a:ext cx="1874762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Membership discount - used card</a:t>
            </a:r>
            <a:endParaRPr lang="en-US" sz="1143" dirty="0"/>
          </a:p>
        </p:txBody>
      </p:sp>
      <p:sp>
        <p:nvSpPr>
          <p:cNvPr id="4" name="Text 2"/>
          <p:cNvSpPr/>
          <p:nvPr/>
        </p:nvSpPr>
        <p:spPr>
          <a:xfrm>
            <a:off x="2745619" y="1372810"/>
            <a:ext cx="1572381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Member ID with used card</a:t>
            </a:r>
            <a:endParaRPr lang="en-US" sz="1143" dirty="0"/>
          </a:p>
        </p:txBody>
      </p:sp>
      <p:sp>
        <p:nvSpPr>
          <p:cNvPr id="5" name="Text 3"/>
          <p:cNvSpPr/>
          <p:nvPr/>
        </p:nvSpPr>
        <p:spPr>
          <a:xfrm>
            <a:off x="4366381" y="1372810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Card already used. No discount.</a:t>
            </a:r>
            <a:endParaRPr lang="en-US" sz="1143" dirty="0"/>
          </a:p>
        </p:txBody>
      </p:sp>
      <p:sp>
        <p:nvSpPr>
          <p:cNvPr id="6" name="Text 4"/>
          <p:cNvSpPr/>
          <p:nvPr/>
        </p:nvSpPr>
        <p:spPr>
          <a:xfrm>
            <a:off x="7747000" y="1372810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8" name="Text 5"/>
          <p:cNvSpPr/>
          <p:nvPr/>
        </p:nvSpPr>
        <p:spPr>
          <a:xfrm>
            <a:off x="405190" y="1959429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07</a:t>
            </a:r>
            <a:endParaRPr lang="en-US" sz="1143" dirty="0"/>
          </a:p>
        </p:txBody>
      </p:sp>
      <p:sp>
        <p:nvSpPr>
          <p:cNvPr id="9" name="Text 6"/>
          <p:cNvSpPr/>
          <p:nvPr/>
        </p:nvSpPr>
        <p:spPr>
          <a:xfrm>
            <a:off x="822476" y="1941286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Cash payment - sufficient</a:t>
            </a:r>
            <a:endParaRPr lang="en-US" sz="1143" dirty="0"/>
          </a:p>
        </p:txBody>
      </p:sp>
      <p:sp>
        <p:nvSpPr>
          <p:cNvPr id="10" name="Text 7"/>
          <p:cNvSpPr/>
          <p:nvPr/>
        </p:nvSpPr>
        <p:spPr>
          <a:xfrm>
            <a:off x="2745619" y="1941286"/>
            <a:ext cx="1572381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Amount ≥ payable</a:t>
            </a:r>
            <a:endParaRPr lang="en-US" sz="1143" dirty="0"/>
          </a:p>
        </p:txBody>
      </p:sp>
      <p:sp>
        <p:nvSpPr>
          <p:cNvPr id="11" name="Text 8"/>
          <p:cNvSpPr/>
          <p:nvPr/>
        </p:nvSpPr>
        <p:spPr>
          <a:xfrm>
            <a:off x="4366381" y="1941286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Change returned, bill printed</a:t>
            </a:r>
            <a:endParaRPr lang="en-US" sz="1143" dirty="0"/>
          </a:p>
        </p:txBody>
      </p:sp>
      <p:sp>
        <p:nvSpPr>
          <p:cNvPr id="12" name="Text 9"/>
          <p:cNvSpPr/>
          <p:nvPr/>
        </p:nvSpPr>
        <p:spPr>
          <a:xfrm>
            <a:off x="7747000" y="1935238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14" name="Text 10"/>
          <p:cNvSpPr/>
          <p:nvPr/>
        </p:nvSpPr>
        <p:spPr>
          <a:xfrm>
            <a:off x="405190" y="2292048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08</a:t>
            </a:r>
            <a:endParaRPr lang="en-US" sz="1143" dirty="0"/>
          </a:p>
        </p:txBody>
      </p:sp>
      <p:sp>
        <p:nvSpPr>
          <p:cNvPr id="15" name="Text 11"/>
          <p:cNvSpPr/>
          <p:nvPr/>
        </p:nvSpPr>
        <p:spPr>
          <a:xfrm>
            <a:off x="822476" y="2273905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Cash payment - insufficient</a:t>
            </a:r>
            <a:endParaRPr lang="en-US" sz="1143" dirty="0"/>
          </a:p>
        </p:txBody>
      </p:sp>
      <p:sp>
        <p:nvSpPr>
          <p:cNvPr id="16" name="Text 12"/>
          <p:cNvSpPr/>
          <p:nvPr/>
        </p:nvSpPr>
        <p:spPr>
          <a:xfrm>
            <a:off x="2745619" y="2273905"/>
            <a:ext cx="1572381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Amount &lt; payable</a:t>
            </a:r>
            <a:endParaRPr lang="en-US" sz="1143" dirty="0"/>
          </a:p>
        </p:txBody>
      </p:sp>
      <p:sp>
        <p:nvSpPr>
          <p:cNvPr id="17" name="Text 13"/>
          <p:cNvSpPr/>
          <p:nvPr/>
        </p:nvSpPr>
        <p:spPr>
          <a:xfrm>
            <a:off x="4366381" y="2273905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Need X more prompt</a:t>
            </a:r>
            <a:endParaRPr lang="en-US" sz="1143" dirty="0"/>
          </a:p>
        </p:txBody>
      </p:sp>
      <p:sp>
        <p:nvSpPr>
          <p:cNvPr id="18" name="Text 14"/>
          <p:cNvSpPr/>
          <p:nvPr/>
        </p:nvSpPr>
        <p:spPr>
          <a:xfrm>
            <a:off x="7747000" y="2267857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20" name="Text 15"/>
          <p:cNvSpPr/>
          <p:nvPr/>
        </p:nvSpPr>
        <p:spPr>
          <a:xfrm>
            <a:off x="405190" y="2624667"/>
            <a:ext cx="36285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09</a:t>
            </a:r>
            <a:endParaRPr lang="en-US" sz="1143" dirty="0"/>
          </a:p>
        </p:txBody>
      </p:sp>
      <p:sp>
        <p:nvSpPr>
          <p:cNvPr id="21" name="Text 16"/>
          <p:cNvSpPr/>
          <p:nvPr/>
        </p:nvSpPr>
        <p:spPr>
          <a:xfrm>
            <a:off x="822476" y="2606524"/>
            <a:ext cx="1874762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QR Code payment</a:t>
            </a:r>
            <a:endParaRPr lang="en-US" sz="1143" dirty="0"/>
          </a:p>
        </p:txBody>
      </p:sp>
      <p:sp>
        <p:nvSpPr>
          <p:cNvPr id="22" name="Text 17"/>
          <p:cNvSpPr/>
          <p:nvPr/>
        </p:nvSpPr>
        <p:spPr>
          <a:xfrm>
            <a:off x="2745619" y="2606524"/>
            <a:ext cx="1572381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Select QR option</a:t>
            </a:r>
            <a:endParaRPr lang="en-US" sz="1143" dirty="0"/>
          </a:p>
        </p:txBody>
      </p:sp>
      <p:sp>
        <p:nvSpPr>
          <p:cNvPr id="23" name="Text 18"/>
          <p:cNvSpPr/>
          <p:nvPr/>
        </p:nvSpPr>
        <p:spPr>
          <a:xfrm>
            <a:off x="4366381" y="2606524"/>
            <a:ext cx="338666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QR displayed, Transaction ID generated</a:t>
            </a:r>
            <a:endParaRPr lang="en-US" sz="1143" dirty="0"/>
          </a:p>
        </p:txBody>
      </p:sp>
      <p:sp>
        <p:nvSpPr>
          <p:cNvPr id="24" name="Text 19"/>
          <p:cNvSpPr/>
          <p:nvPr/>
        </p:nvSpPr>
        <p:spPr>
          <a:xfrm>
            <a:off x="7747000" y="2600476"/>
            <a:ext cx="604762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26" name="Text 20"/>
          <p:cNvSpPr/>
          <p:nvPr/>
        </p:nvSpPr>
        <p:spPr>
          <a:xfrm>
            <a:off x="405190" y="2957286"/>
            <a:ext cx="36285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10</a:t>
            </a:r>
            <a:endParaRPr lang="en-US" sz="1143" dirty="0"/>
          </a:p>
        </p:txBody>
      </p:sp>
      <p:sp>
        <p:nvSpPr>
          <p:cNvPr id="27" name="Text 21"/>
          <p:cNvSpPr/>
          <p:nvPr/>
        </p:nvSpPr>
        <p:spPr>
          <a:xfrm>
            <a:off x="822476" y="2939143"/>
            <a:ext cx="1874762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Admin delete product - valid</a:t>
            </a:r>
            <a:endParaRPr lang="en-US" sz="1143" dirty="0"/>
          </a:p>
        </p:txBody>
      </p:sp>
      <p:sp>
        <p:nvSpPr>
          <p:cNvPr id="28" name="Text 22"/>
          <p:cNvSpPr/>
          <p:nvPr/>
        </p:nvSpPr>
        <p:spPr>
          <a:xfrm>
            <a:off x="2745619" y="2939143"/>
            <a:ext cx="1572381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Valid product code</a:t>
            </a:r>
            <a:endParaRPr lang="en-US" sz="1143" dirty="0"/>
          </a:p>
        </p:txBody>
      </p:sp>
      <p:sp>
        <p:nvSpPr>
          <p:cNvPr id="29" name="Text 23"/>
          <p:cNvSpPr/>
          <p:nvPr/>
        </p:nvSpPr>
        <p:spPr>
          <a:xfrm>
            <a:off x="4366381" y="2939143"/>
            <a:ext cx="338666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Product deleted successfully</a:t>
            </a:r>
            <a:endParaRPr lang="en-US" sz="1143" dirty="0"/>
          </a:p>
        </p:txBody>
      </p:sp>
      <p:sp>
        <p:nvSpPr>
          <p:cNvPr id="30" name="Text 24"/>
          <p:cNvSpPr/>
          <p:nvPr/>
        </p:nvSpPr>
        <p:spPr>
          <a:xfrm>
            <a:off x="7747000" y="2933095"/>
            <a:ext cx="604762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32" name="Text 25"/>
          <p:cNvSpPr/>
          <p:nvPr/>
        </p:nvSpPr>
        <p:spPr>
          <a:xfrm>
            <a:off x="405190" y="3289905"/>
            <a:ext cx="36285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11</a:t>
            </a:r>
            <a:endParaRPr lang="en-US" sz="1143" dirty="0"/>
          </a:p>
        </p:txBody>
      </p:sp>
      <p:sp>
        <p:nvSpPr>
          <p:cNvPr id="33" name="Text 26"/>
          <p:cNvSpPr/>
          <p:nvPr/>
        </p:nvSpPr>
        <p:spPr>
          <a:xfrm>
            <a:off x="822476" y="3271762"/>
            <a:ext cx="1874762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Admin delete product - invalid</a:t>
            </a:r>
            <a:endParaRPr lang="en-US" sz="1143" dirty="0"/>
          </a:p>
        </p:txBody>
      </p:sp>
      <p:sp>
        <p:nvSpPr>
          <p:cNvPr id="34" name="Text 27"/>
          <p:cNvSpPr/>
          <p:nvPr/>
        </p:nvSpPr>
        <p:spPr>
          <a:xfrm>
            <a:off x="2745619" y="3271762"/>
            <a:ext cx="1572381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Invalid product code</a:t>
            </a:r>
            <a:endParaRPr lang="en-US" sz="1143" dirty="0"/>
          </a:p>
        </p:txBody>
      </p:sp>
      <p:sp>
        <p:nvSpPr>
          <p:cNvPr id="35" name="Text 28"/>
          <p:cNvSpPr/>
          <p:nvPr/>
        </p:nvSpPr>
        <p:spPr>
          <a:xfrm>
            <a:off x="4366381" y="3271762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Product code not found</a:t>
            </a:r>
            <a:endParaRPr lang="en-US" sz="1143" dirty="0"/>
          </a:p>
        </p:txBody>
      </p:sp>
      <p:sp>
        <p:nvSpPr>
          <p:cNvPr id="36" name="Text 29"/>
          <p:cNvSpPr/>
          <p:nvPr/>
        </p:nvSpPr>
        <p:spPr>
          <a:xfrm>
            <a:off x="7747000" y="3265714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38" name="Text 30"/>
          <p:cNvSpPr/>
          <p:nvPr/>
        </p:nvSpPr>
        <p:spPr>
          <a:xfrm>
            <a:off x="405190" y="3828143"/>
            <a:ext cx="362857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12</a:t>
            </a:r>
            <a:endParaRPr lang="en-US" sz="1143" dirty="0"/>
          </a:p>
        </p:txBody>
      </p:sp>
      <p:sp>
        <p:nvSpPr>
          <p:cNvPr id="39" name="Text 31"/>
          <p:cNvSpPr/>
          <p:nvPr/>
        </p:nvSpPr>
        <p:spPr>
          <a:xfrm>
            <a:off x="822476" y="3810000"/>
            <a:ext cx="187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Sales summary report</a:t>
            </a:r>
            <a:endParaRPr lang="en-US" sz="1143" dirty="0"/>
          </a:p>
        </p:txBody>
      </p:sp>
      <p:sp>
        <p:nvSpPr>
          <p:cNvPr id="40" name="Text 32"/>
          <p:cNvSpPr/>
          <p:nvPr/>
        </p:nvSpPr>
        <p:spPr>
          <a:xfrm>
            <a:off x="2745619" y="3810000"/>
            <a:ext cx="1572381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After 2 transactions</a:t>
            </a:r>
            <a:endParaRPr lang="en-US" sz="1143" dirty="0"/>
          </a:p>
        </p:txBody>
      </p:sp>
      <p:sp>
        <p:nvSpPr>
          <p:cNvPr id="41" name="Text 33"/>
          <p:cNvSpPr/>
          <p:nvPr/>
        </p:nvSpPr>
        <p:spPr>
          <a:xfrm>
            <a:off x="4366381" y="3810000"/>
            <a:ext cx="3386667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Correct bills, revenue, discounts shown</a:t>
            </a:r>
            <a:endParaRPr lang="en-US" sz="1143" dirty="0"/>
          </a:p>
        </p:txBody>
      </p:sp>
      <p:sp>
        <p:nvSpPr>
          <p:cNvPr id="42" name="Text 34"/>
          <p:cNvSpPr/>
          <p:nvPr/>
        </p:nvSpPr>
        <p:spPr>
          <a:xfrm>
            <a:off x="7747000" y="3803952"/>
            <a:ext cx="604762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3A5F35"/>
                </a:solidFill>
              </a:rPr>
              <a:t>Pass</a:t>
            </a:r>
            <a:endParaRPr lang="en-US" sz="1143" dirty="0"/>
          </a:p>
        </p:txBody>
      </p:sp>
      <p:sp>
        <p:nvSpPr>
          <p:cNvPr id="43" name="Text 35"/>
          <p:cNvSpPr/>
          <p:nvPr/>
        </p:nvSpPr>
        <p:spPr>
          <a:xfrm>
            <a:off x="7747000" y="889000"/>
            <a:ext cx="60476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Result</a:t>
            </a:r>
            <a:endParaRPr lang="en-US" sz="1524" dirty="0"/>
          </a:p>
        </p:txBody>
      </p:sp>
      <p:sp>
        <p:nvSpPr>
          <p:cNvPr id="44" name="Text 36"/>
          <p:cNvSpPr/>
          <p:nvPr/>
        </p:nvSpPr>
        <p:spPr>
          <a:xfrm>
            <a:off x="4366381" y="889000"/>
            <a:ext cx="36285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Expected Output</a:t>
            </a:r>
            <a:endParaRPr lang="en-US" sz="1524" dirty="0"/>
          </a:p>
        </p:txBody>
      </p:sp>
      <p:sp>
        <p:nvSpPr>
          <p:cNvPr id="45" name="Text 37"/>
          <p:cNvSpPr/>
          <p:nvPr/>
        </p:nvSpPr>
        <p:spPr>
          <a:xfrm>
            <a:off x="2745619" y="889000"/>
            <a:ext cx="157238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Input</a:t>
            </a:r>
            <a:endParaRPr lang="en-US" sz="1524" dirty="0"/>
          </a:p>
        </p:txBody>
      </p:sp>
      <p:sp>
        <p:nvSpPr>
          <p:cNvPr id="46" name="Text 38"/>
          <p:cNvSpPr/>
          <p:nvPr/>
        </p:nvSpPr>
        <p:spPr>
          <a:xfrm>
            <a:off x="822476" y="889000"/>
            <a:ext cx="187476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Test Case</a:t>
            </a:r>
            <a:endParaRPr lang="en-US" sz="1524" dirty="0"/>
          </a:p>
        </p:txBody>
      </p:sp>
      <p:sp>
        <p:nvSpPr>
          <p:cNvPr id="47" name="Text 39"/>
          <p:cNvSpPr/>
          <p:nvPr/>
        </p:nvSpPr>
        <p:spPr>
          <a:xfrm>
            <a:off x="405190" y="889000"/>
            <a:ext cx="36285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#</a:t>
            </a:r>
            <a:endParaRPr lang="en-US" sz="1524" dirty="0"/>
          </a:p>
        </p:txBody>
      </p:sp>
      <p:pic>
        <p:nvPicPr>
          <p:cNvPr id="52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417B1BA3-062F-421A-206C-68094DA4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386582" y="1770559"/>
            <a:ext cx="7965411" cy="29772"/>
          </a:xfrm>
          <a:prstGeom prst="rect">
            <a:avLst/>
          </a:prstGeom>
        </p:spPr>
      </p:pic>
      <p:pic>
        <p:nvPicPr>
          <p:cNvPr id="56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1FF455EA-D8E0-97DF-C388-1106EADBD8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386582" y="2134811"/>
            <a:ext cx="7965411" cy="29772"/>
          </a:xfrm>
          <a:prstGeom prst="rect">
            <a:avLst/>
          </a:prstGeom>
        </p:spPr>
      </p:pic>
      <p:pic>
        <p:nvPicPr>
          <p:cNvPr id="58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B859193D-1557-EFF6-25A9-71E527AC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405423" y="2467663"/>
            <a:ext cx="7965411" cy="29772"/>
          </a:xfrm>
          <a:prstGeom prst="rect">
            <a:avLst/>
          </a:prstGeom>
        </p:spPr>
      </p:pic>
      <p:pic>
        <p:nvPicPr>
          <p:cNvPr id="60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B8DB9994-F530-08AE-F059-B0BD66C7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405423" y="2800514"/>
            <a:ext cx="7965411" cy="29772"/>
          </a:xfrm>
          <a:prstGeom prst="rect">
            <a:avLst/>
          </a:prstGeom>
        </p:spPr>
      </p:pic>
      <p:pic>
        <p:nvPicPr>
          <p:cNvPr id="62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63A9E7CF-B770-B69E-C19F-48EDF07C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386582" y="3183608"/>
            <a:ext cx="7965411" cy="29772"/>
          </a:xfrm>
          <a:prstGeom prst="rect">
            <a:avLst/>
          </a:prstGeom>
        </p:spPr>
      </p:pic>
      <p:pic>
        <p:nvPicPr>
          <p:cNvPr id="64" name="Image 1" descr="https://files.chroniclehq.com/1c501c36-f81b-4c59-a969-174d488d3f5c-Gray_dotted_horizontal_line.png">
            <a:extLst>
              <a:ext uri="{FF2B5EF4-FFF2-40B4-BE49-F238E27FC236}">
                <a16:creationId xmlns:a16="http://schemas.microsoft.com/office/drawing/2014/main" id="{DFAFE7E5-51E5-AAE7-D702-EBE69D7A8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9" b="49239"/>
          <a:stretch/>
        </p:blipFill>
        <p:spPr>
          <a:xfrm flipV="1">
            <a:off x="386582" y="3660905"/>
            <a:ext cx="7965411" cy="29772"/>
          </a:xfrm>
          <a:prstGeom prst="rect">
            <a:avLst/>
          </a:prstGeom>
        </p:spPr>
      </p:pic>
      <p:pic>
        <p:nvPicPr>
          <p:cNvPr id="66" name="Image 0" descr="https://files.chroniclehq.com/84f681bf-73c2-4ebf-b1db-1b5294f645fb-Gray_horizontal_line.png">
            <a:extLst>
              <a:ext uri="{FF2B5EF4-FFF2-40B4-BE49-F238E27FC236}">
                <a16:creationId xmlns:a16="http://schemas.microsoft.com/office/drawing/2014/main" id="{B38CB88F-B2C7-8E7C-B767-E6808FE71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39" b="49239"/>
          <a:stretch/>
        </p:blipFill>
        <p:spPr>
          <a:xfrm>
            <a:off x="385629" y="1172075"/>
            <a:ext cx="7946571" cy="1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42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7957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87048"/>
            <a:ext cx="3425900" cy="96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dirty="0">
                <a:solidFill>
                  <a:srgbClr val="F2F2F2"/>
                </a:solidFill>
              </a:rPr>
              <a:t>Refer</a:t>
            </a:r>
            <a:r>
              <a:rPr lang="en-US" sz="3800" dirty="0">
                <a:solidFill>
                  <a:srgbClr val="000000"/>
                </a:solidFill>
              </a:rPr>
              <a:t>​</a:t>
            </a:r>
            <a:r>
              <a:rPr lang="en-US" sz="3800" dirty="0" err="1">
                <a:solidFill>
                  <a:srgbClr val="F2F2F2"/>
                </a:solidFill>
              </a:rPr>
              <a:t>ences</a:t>
            </a:r>
            <a:endParaRPr lang="en-US" sz="3800" dirty="0" err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00f73263-f4dd-4ac4-b041-92817a4cecb1-emmi.txt_httpss.mj.run4iCw6QA0GNA_httpss.mj.runOnUTxpO_Wp0_http_a5e8bf8b_342f_4478_b8e7_86f225ab0561.png"/>
          <p:cNvPicPr>
            <a:picLocks noChangeAspect="1"/>
          </p:cNvPicPr>
          <p:nvPr/>
        </p:nvPicPr>
        <p:blipFill>
          <a:blip r:embed="rId3"/>
          <a:srcRect t="27558" b="2755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https://files.chroniclehq.com/chapter-background-v2/raw/v3-grid-33-dar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-3021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3888619"/>
            <a:ext cx="4771571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14" dirty="0">
                <a:solidFill>
                  <a:srgbClr val="F2F2F2"/>
                </a:solidFill>
              </a:rPr>
              <a:t>Thank You</a:t>
            </a:r>
            <a:endParaRPr lang="en-US" sz="5714" dirty="0"/>
          </a:p>
        </p:txBody>
      </p:sp>
      <p:sp>
        <p:nvSpPr>
          <p:cNvPr id="5" name="Text 1"/>
          <p:cNvSpPr/>
          <p:nvPr/>
        </p:nvSpPr>
        <p:spPr>
          <a:xfrm>
            <a:off x="5025571" y="4148667"/>
            <a:ext cx="383419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AYH MART</a:t>
            </a:r>
            <a:endParaRPr lang="en-US" sz="1524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1500" kern="0" spc="-12" dirty="0">
                <a:solidFill>
                  <a:srgbClr val="F2F2F2">
                    <a:alpha val="56000"/>
                  </a:srgbClr>
                </a:solidFill>
              </a:rPr>
              <a:t> Checkout System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241905" y="4880429"/>
            <a:ext cx="8678333" cy="10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2" i="1" dirty="0">
                <a:solidFill>
                  <a:srgbClr val="B8B8B8"/>
                </a:solidFill>
              </a:rPr>
              <a:t>AYH MART - Self Checkout System Presentation</a:t>
            </a:r>
            <a:endParaRPr lang="en-US" sz="76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92</cp:revision>
  <dcterms:created xsi:type="dcterms:W3CDTF">2026-03-11T13:15:57Z</dcterms:created>
  <dcterms:modified xsi:type="dcterms:W3CDTF">2026-03-11T15:01:35Z</dcterms:modified>
</cp:coreProperties>
</file>