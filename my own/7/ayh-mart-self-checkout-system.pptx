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2.png"/><Relationship Id="rId4" Type="http://schemas.openxmlformats.org/officeDocument/2006/relationships/image" Target="../media/image-8-2.png"/><Relationship Id="rId5" Type="http://schemas.openxmlformats.org/officeDocument/2006/relationships/image" Target="../media/image-8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1.png"/><Relationship Id="rId4" Type="http://schemas.openxmlformats.org/officeDocument/2006/relationships/image" Target="../media/image-9-1.png"/><Relationship Id="rId5" Type="http://schemas.openxmlformats.org/officeDocument/2006/relationships/image" Target="../media/image-9-1.png"/><Relationship Id="rId6" Type="http://schemas.openxmlformats.org/officeDocument/2006/relationships/image" Target="../media/image-9-1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27238" y="2187726"/>
            <a:ext cx="6289524" cy="393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algn="ctr" indent="0" marL="0">
              <a:lnSpc>
                <a:spcPct val="80000"/>
              </a:lnSpc>
              <a:buNone/>
            </a:pPr>
            <a:r>
              <a:rPr lang="en-US" sz="4571" spc="-100" kern="0" dirty="0">
                <a:solidFill>
                  <a:srgbClr val="F2F2F2"/>
                </a:solidFill>
              </a:rPr>
              <a:t>AYH MART: Self Checkout System</a:t>
            </a:r>
            <a:endParaRPr lang="en-US" sz="457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files.chroniclehq.com/chapter-background-v2/raw/v3-grid-28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38667" y="338667"/>
            <a:ext cx="8430381" cy="1161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48" spc="-36" kern="0" dirty="0">
                <a:solidFill>
                  <a:srgbClr val="97948C"/>
                </a:solidFill>
              </a:rPr>
              <a:t>A Project On</a:t>
            </a:r>
            <a:pPr algn="l" indent="0" marL="0">
              <a:lnSpc>
                <a:spcPct val="90000"/>
              </a:lnSpc>
              <a:buNone/>
            </a:pPr>
            <a:endParaRPr lang="en-US" sz="3048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048" spc="-36" kern="0" dirty="0">
                <a:solidFill>
                  <a:srgbClr val="F2F2F2"/>
                </a:solidFill>
              </a:rPr>
              <a:t>AYH MART - Self Checkout System</a:t>
            </a:r>
            <a:pPr algn="l" indent="0" marL="0">
              <a:lnSpc>
                <a:spcPct val="90000"/>
              </a:lnSpc>
              <a:buNone/>
            </a:pPr>
            <a:endParaRPr lang="en-US" sz="3048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3048" spc="-36" kern="0" dirty="0">
                <a:solidFill>
                  <a:srgbClr val="97948C"/>
                </a:solidFill>
              </a:rPr>
              <a:t>Inclusive Integrated | Innovative</a:t>
            </a:r>
            <a:endParaRPr lang="en-US" sz="3048" dirty="0"/>
          </a:p>
        </p:txBody>
      </p:sp>
      <p:sp>
        <p:nvSpPr>
          <p:cNvPr id="4" name="Text 1"/>
          <p:cNvSpPr/>
          <p:nvPr/>
        </p:nvSpPr>
        <p:spPr>
          <a:xfrm>
            <a:off x="370320" y="3629039"/>
            <a:ext cx="1536095" cy="34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49494"/>
                </a:solidFill>
              </a:rPr>
              <a:t>Programme</a:t>
            </a:r>
            <a:pPr algn="l" indent="0" marL="0">
              <a:lnSpc>
                <a:spcPct val="100000"/>
              </a:lnSpc>
              <a:buNone/>
            </a:pPr>
            <a:endParaRPr lang="en-US" sz="1143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IMCA I Sem-2</a:t>
            </a:r>
            <a:endParaRPr lang="en-US" sz="1143" dirty="0"/>
          </a:p>
        </p:txBody>
      </p:sp>
      <p:sp>
        <p:nvSpPr>
          <p:cNvPr id="5" name="Text 2"/>
          <p:cNvSpPr/>
          <p:nvPr/>
        </p:nvSpPr>
        <p:spPr>
          <a:xfrm>
            <a:off x="2148044" y="3629039"/>
            <a:ext cx="1536095" cy="34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49494"/>
                </a:solidFill>
              </a:rPr>
              <a:t>Under the Guidance of</a:t>
            </a:r>
            <a:pPr algn="l" indent="0" marL="0">
              <a:lnSpc>
                <a:spcPct val="100000"/>
              </a:lnSpc>
              <a:buNone/>
            </a:pPr>
            <a:endParaRPr lang="en-US" sz="1143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Prof. [Guide Name]</a:t>
            </a:r>
            <a:endParaRPr lang="en-US" sz="1143" dirty="0"/>
          </a:p>
        </p:txBody>
      </p:sp>
      <p:sp>
        <p:nvSpPr>
          <p:cNvPr id="6" name="Text 3"/>
          <p:cNvSpPr/>
          <p:nvPr/>
        </p:nvSpPr>
        <p:spPr>
          <a:xfrm>
            <a:off x="3925768" y="3629039"/>
            <a:ext cx="1536095" cy="696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49494"/>
                </a:solidFill>
              </a:rPr>
              <a:t>Presented By</a:t>
            </a:r>
            <a:pPr algn="l" indent="0" marL="0">
              <a:lnSpc>
                <a:spcPct val="100000"/>
              </a:lnSpc>
              <a:buNone/>
            </a:pPr>
            <a:endParaRPr lang="en-US" sz="1143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Aum</a:t>
            </a:r>
            <a:pPr algn="l" indent="0" marL="0">
              <a:lnSpc>
                <a:spcPct val="100000"/>
              </a:lnSpc>
              <a:buNone/>
            </a:pPr>
            <a:endParaRPr lang="en-US" sz="1143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Yesh</a:t>
            </a:r>
            <a:pPr algn="l" indent="0" marL="0">
              <a:lnSpc>
                <a:spcPct val="100000"/>
              </a:lnSpc>
              <a:buNone/>
            </a:pPr>
            <a:endParaRPr lang="en-US" sz="1143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HariKrushna</a:t>
            </a:r>
            <a:endParaRPr lang="en-US" sz="114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88190" y="1088571"/>
            <a:ext cx="4438952" cy="435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29" dirty="0">
                <a:solidFill>
                  <a:srgbClr val="949494"/>
                </a:solidFill>
              </a:rPr>
              <a:t>Agenda</a:t>
            </a:r>
            <a:endParaRPr lang="en-US" sz="3429" dirty="0"/>
          </a:p>
        </p:txBody>
      </p:sp>
      <p:pic>
        <p:nvPicPr>
          <p:cNvPr id="3" name="Image 0" descr="https://files.chroniclehq.com/ai-images/ai-generated-395dee43-6472-4f55-98c8-8595a53a32cf.png">    </p:cNvPr>
          <p:cNvPicPr>
            <a:picLocks noChangeAspect="1"/>
          </p:cNvPicPr>
          <p:nvPr/>
        </p:nvPicPr>
        <p:blipFill>
          <a:blip r:embed="rId1"/>
          <a:srcRect l="12365" r="12365" t="0" b="0"/>
          <a:stretch/>
        </p:blipFill>
        <p:spPr>
          <a:xfrm>
            <a:off x="338667" y="332619"/>
            <a:ext cx="3368524" cy="447523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088190" y="453571"/>
            <a:ext cx="4438952" cy="43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29" dirty="0">
                <a:solidFill>
                  <a:srgbClr val="F2F2F2"/>
                </a:solidFill>
              </a:rPr>
              <a:t>What we'll cover</a:t>
            </a:r>
            <a:endParaRPr lang="en-US" sz="3429" dirty="0"/>
          </a:p>
        </p:txBody>
      </p:sp>
      <p:sp>
        <p:nvSpPr>
          <p:cNvPr id="5" name="Text 2"/>
          <p:cNvSpPr/>
          <p:nvPr/>
        </p:nvSpPr>
        <p:spPr>
          <a:xfrm>
            <a:off x="4088190" y="1874762"/>
            <a:ext cx="4438952" cy="18278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50000"/>
              </a:lnSpc>
              <a:buSzPct val="100000"/>
              <a:buFont typeface="+mj-lt"/>
              <a:buAutoNum type="arabicPeriod" startAt="1"/>
            </a:pPr>
            <a:r>
              <a:rPr lang="en-US" sz="1524" spc="-12" kern="0" dirty="0">
                <a:solidFill>
                  <a:srgbClr val="F2F2F2"/>
                </a:solidFill>
              </a:rPr>
              <a:t>Project Abstract</a:t>
            </a:r>
            <a:pPr algn="l" indent="0" marL="0">
              <a:lnSpc>
                <a:spcPct val="90000"/>
              </a:lnSpc>
              <a:buNone/>
            </a:pPr>
            <a:endParaRPr lang="en-US" sz="1524" dirty="0"/>
          </a:p>
          <a:p>
            <a:pPr algn="l" marL="127000" indent="-127000">
              <a:lnSpc>
                <a:spcPct val="150000"/>
              </a:lnSpc>
              <a:buSzPct val="100000"/>
              <a:buFont typeface="+mj-lt"/>
              <a:buAutoNum type="arabicPeriod" startAt="1"/>
            </a:pPr>
            <a:r>
              <a:rPr lang="en-US" sz="1524" spc="-12" kern="0" dirty="0">
                <a:solidFill>
                  <a:srgbClr val="F2F2F2"/>
                </a:solidFill>
              </a:rPr>
              <a:t>Objective</a:t>
            </a:r>
            <a:pPr algn="l" indent="0" marL="0">
              <a:lnSpc>
                <a:spcPct val="90000"/>
              </a:lnSpc>
              <a:buNone/>
            </a:pPr>
            <a:endParaRPr lang="en-US" sz="1524" dirty="0"/>
          </a:p>
          <a:p>
            <a:pPr algn="l" marL="127000" indent="-127000">
              <a:lnSpc>
                <a:spcPct val="150000"/>
              </a:lnSpc>
              <a:buSzPct val="100000"/>
              <a:buFont typeface="+mj-lt"/>
              <a:buAutoNum type="arabicPeriod" startAt="1"/>
            </a:pPr>
            <a:r>
              <a:rPr lang="en-US" sz="1524" spc="-12" kern="0" dirty="0">
                <a:solidFill>
                  <a:srgbClr val="F2F2F2"/>
                </a:solidFill>
              </a:rPr>
              <a:t>System Description</a:t>
            </a:r>
            <a:pPr algn="l" indent="0" marL="0">
              <a:lnSpc>
                <a:spcPct val="90000"/>
              </a:lnSpc>
              <a:buNone/>
            </a:pPr>
            <a:endParaRPr lang="en-US" sz="1524" dirty="0"/>
          </a:p>
          <a:p>
            <a:pPr algn="l" marL="127000" indent="-127000">
              <a:lnSpc>
                <a:spcPct val="150000"/>
              </a:lnSpc>
              <a:buSzPct val="100000"/>
              <a:buFont typeface="+mj-lt"/>
              <a:buAutoNum type="arabicPeriod" startAt="1"/>
            </a:pPr>
            <a:r>
              <a:rPr lang="en-US" sz="1524" spc="-12" kern="0" dirty="0">
                <a:solidFill>
                  <a:srgbClr val="F2F2F2"/>
                </a:solidFill>
              </a:rPr>
              <a:t>Screenshots</a:t>
            </a:r>
            <a:pPr algn="l" indent="0" marL="0">
              <a:lnSpc>
                <a:spcPct val="90000"/>
              </a:lnSpc>
              <a:buNone/>
            </a:pPr>
            <a:endParaRPr lang="en-US" sz="1524" dirty="0"/>
          </a:p>
          <a:p>
            <a:pPr algn="l" marL="127000" indent="-127000">
              <a:lnSpc>
                <a:spcPct val="150000"/>
              </a:lnSpc>
              <a:buSzPct val="100000"/>
              <a:buFont typeface="+mj-lt"/>
              <a:buAutoNum type="arabicPeriod" startAt="1"/>
            </a:pPr>
            <a:r>
              <a:rPr lang="en-US" sz="1524" spc="-12" kern="0" dirty="0">
                <a:solidFill>
                  <a:srgbClr val="F2F2F2"/>
                </a:solidFill>
              </a:rPr>
              <a:t>Test Cases</a:t>
            </a:r>
            <a:pPr algn="l" indent="0" marL="0">
              <a:lnSpc>
                <a:spcPct val="90000"/>
              </a:lnSpc>
              <a:buNone/>
            </a:pPr>
            <a:endParaRPr lang="en-US" sz="1524" dirty="0"/>
          </a:p>
          <a:p>
            <a:pPr algn="l" marL="127000" indent="-127000">
              <a:lnSpc>
                <a:spcPct val="150000"/>
              </a:lnSpc>
              <a:buSzPct val="100000"/>
              <a:buFont typeface="+mj-lt"/>
              <a:buAutoNum type="arabicPeriod" startAt="1"/>
            </a:pPr>
            <a:r>
              <a:rPr lang="en-US" sz="1524" spc="-12" kern="0" dirty="0">
                <a:solidFill>
                  <a:srgbClr val="F2F2F2"/>
                </a:solidFill>
              </a:rPr>
              <a:t>References</a:t>
            </a:r>
            <a:endParaRPr lang="en-US" sz="1524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files.chroniclehq.com/chapter-background-v2/raw/v3-grid-37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7381" y="683381"/>
            <a:ext cx="3810000" cy="290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286" spc="-12" kern="0" dirty="0">
                <a:solidFill>
                  <a:srgbClr val="141414"/>
                </a:solidFill>
              </a:rPr>
              <a:t>Project abstract</a:t>
            </a:r>
            <a:endParaRPr lang="en-US" sz="2286" dirty="0"/>
          </a:p>
        </p:txBody>
      </p:sp>
      <p:sp>
        <p:nvSpPr>
          <p:cNvPr id="4" name="Text 1"/>
          <p:cNvSpPr/>
          <p:nvPr/>
        </p:nvSpPr>
        <p:spPr>
          <a:xfrm>
            <a:off x="937381" y="1294190"/>
            <a:ext cx="3586238" cy="18868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2" b="1" dirty="0">
                <a:solidFill>
                  <a:srgbClr val="262626"/>
                </a:solidFill>
              </a:rPr>
              <a:t>AYH Mart self checkout system</a:t>
            </a:r>
            <a:pPr algn="l" indent="0" marL="0">
              <a:lnSpc>
                <a:spcPct val="100000"/>
              </a:lnSpc>
              <a:buNone/>
            </a:pPr>
            <a:endParaRPr lang="en-US" sz="952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52" dirty="0">
                <a:solidFill>
                  <a:srgbClr val="262626"/>
                </a:solidFill>
              </a:rPr>
              <a:t>AYH Mart is a console-based self checkout system developed in C, designed for a retail store in Surat, India. It allows customers to independently browse products, add items to a cart, and complete purchases via Cash or UPI QR Code payment.</a:t>
            </a:r>
            <a:pPr algn="l" indent="0" marL="0">
              <a:lnSpc>
                <a:spcPct val="100000"/>
              </a:lnSpc>
              <a:buNone/>
            </a:pPr>
            <a:endParaRPr lang="en-US" sz="952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52" dirty="0">
                <a:solidFill>
                  <a:srgbClr val="262626"/>
                </a:solidFill>
              </a:rPr>
              <a:t>The system supports three user roles - Customer, Staff, and Admin - each with a dedicated portal. Key features include product inventory management, a tiered membership discount program (Silver, Gold, Platinum), customer account management, and a detailed sales reporting module.</a:t>
            </a:r>
            <a:pPr algn="l" indent="0" marL="0">
              <a:lnSpc>
                <a:spcPct val="100000"/>
              </a:lnSpc>
              <a:buNone/>
            </a:pPr>
            <a:endParaRPr lang="en-US" sz="952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52" dirty="0">
                <a:solidFill>
                  <a:srgbClr val="262626"/>
                </a:solidFill>
              </a:rPr>
              <a:t>All data is managed in-memory using C structures, making the system lightweight, efficient, and fully functional as a retail management solution.</a:t>
            </a:r>
            <a:endParaRPr lang="en-US" sz="952" dirty="0"/>
          </a:p>
        </p:txBody>
      </p:sp>
      <p:pic>
        <p:nvPicPr>
          <p:cNvPr id="5" name="Image 1" descr="https://files.chroniclehq.com/ai-images/ai-generated-1f6119dd-f5c9-470a-852e-1ab7af624b6d.png">    </p:cNvPr>
          <p:cNvPicPr>
            <a:picLocks noChangeAspect="1"/>
          </p:cNvPicPr>
          <p:nvPr/>
        </p:nvPicPr>
        <p:blipFill>
          <a:blip r:embed="rId2"/>
          <a:srcRect l="11053" r="11053" t="0" b="0"/>
          <a:stretch/>
        </p:blipFill>
        <p:spPr>
          <a:xfrm>
            <a:off x="5491238" y="562429"/>
            <a:ext cx="3132667" cy="402166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4571" y="356810"/>
            <a:ext cx="7474857" cy="386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48" spc="-36" kern="0" dirty="0">
                <a:solidFill>
                  <a:srgbClr val="F2F2F2"/>
                </a:solidFill>
              </a:rPr>
              <a:t>Project objectives</a:t>
            </a:r>
            <a:endParaRPr lang="en-US" sz="3048" dirty="0"/>
          </a:p>
        </p:txBody>
      </p:sp>
      <p:sp>
        <p:nvSpPr>
          <p:cNvPr id="3" name="Shape 1"/>
          <p:cNvSpPr/>
          <p:nvPr/>
        </p:nvSpPr>
        <p:spPr>
          <a:xfrm>
            <a:off x="834571" y="1028095"/>
            <a:ext cx="2352524" cy="1560286"/>
          </a:xfrm>
          <a:prstGeom prst="roundRect">
            <a:avLst>
              <a:gd name="adj" fmla="val 6202"/>
            </a:avLst>
          </a:prstGeom>
          <a:solidFill>
            <a:srgbClr val="262626">
              <a:alpha val="30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79714" y="1173238"/>
            <a:ext cx="169333" cy="16933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9714" y="1451429"/>
            <a:ext cx="2062238" cy="1136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F3F3F3"/>
                </a:solidFill>
              </a:rPr>
              <a:t>C-based system</a:t>
            </a:r>
            <a:pPr algn="l" indent="0" marL="0">
              <a:buNone/>
            </a:pPr>
            <a:endParaRPr lang="en-US" sz="1143" dirty="0"/>
          </a:p>
          <a:p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F3F3F3">
                    <a:alpha val="60000"/>
                  </a:srgbClr>
                </a:solidFill>
              </a:rPr>
              <a:t>Functional self-checkout system </a:t>
            </a:r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F3F3F3">
                    <a:alpha val="60000"/>
                  </a:srgbClr>
                </a:solidFill>
              </a:rPr>
              <a:t>built in C for a real retail </a:t>
            </a:r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F3F3F3">
                    <a:alpha val="60000"/>
                  </a:srgbClr>
                </a:solidFill>
              </a:rPr>
              <a:t>environment.</a:t>
            </a:r>
            <a:endParaRPr lang="en-US" sz="1143" dirty="0"/>
          </a:p>
        </p:txBody>
      </p:sp>
      <p:sp>
        <p:nvSpPr>
          <p:cNvPr id="6" name="Shape 3"/>
          <p:cNvSpPr/>
          <p:nvPr/>
        </p:nvSpPr>
        <p:spPr>
          <a:xfrm>
            <a:off x="834571" y="2443238"/>
            <a:ext cx="2352524" cy="145143"/>
          </a:xfrm>
          <a:custGeom>
            <a:avLst/>
            <a:gdLst/>
            <a:ahLst/>
            <a:cxnLst/>
            <a:rect l="l" t="t" r="r" b="b"/>
            <a:pathLst>
              <a:path w="2352524" h="145143">
                <a:moveTo>
                  <a:pt x="0" y="0"/>
                </a:moveTo>
                <a:lnTo>
                  <a:pt x="2352524" y="0"/>
                </a:lnTo>
                <a:lnTo>
                  <a:pt x="2352524" y="48381"/>
                </a:lnTo>
                <a:cubicBezTo>
                  <a:pt x="2352524" y="101821"/>
                  <a:pt x="2309202" y="145143"/>
                  <a:pt x="2255762" y="145143"/>
                </a:cubicBezTo>
                <a:lnTo>
                  <a:pt x="96762" y="145143"/>
                </a:lnTo>
                <a:cubicBezTo>
                  <a:pt x="43322" y="145143"/>
                  <a:pt x="0" y="101821"/>
                  <a:pt x="0" y="48381"/>
                </a:cubicBezTo>
                <a:close/>
              </a:path>
            </a:pathLst>
          </a:custGeom>
          <a:solidFill>
            <a:srgbClr val="0F0F0F"/>
          </a:solidFill>
          <a:ln/>
        </p:spPr>
      </p:sp>
      <p:sp>
        <p:nvSpPr>
          <p:cNvPr id="7" name="Shape 4"/>
          <p:cNvSpPr/>
          <p:nvPr/>
        </p:nvSpPr>
        <p:spPr>
          <a:xfrm>
            <a:off x="3398762" y="1028095"/>
            <a:ext cx="2352524" cy="1560286"/>
          </a:xfrm>
          <a:prstGeom prst="roundRect">
            <a:avLst>
              <a:gd name="adj" fmla="val 6202"/>
            </a:avLst>
          </a:prstGeom>
          <a:solidFill>
            <a:srgbClr val="262626">
              <a:alpha val="30000"/>
            </a:srgbClr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43905" y="1173238"/>
            <a:ext cx="169333" cy="16933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543905" y="1451429"/>
            <a:ext cx="2062238" cy="1136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F3F3F3"/>
                </a:solidFill>
              </a:rPr>
              <a:t>Role-based access</a:t>
            </a:r>
            <a:pPr algn="l" indent="0" marL="0">
              <a:buNone/>
            </a:pPr>
            <a:endParaRPr lang="en-US" sz="1143" dirty="0"/>
          </a:p>
          <a:p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F3F3F3">
                    <a:alpha val="60000"/>
                  </a:srgbClr>
                </a:solidFill>
              </a:rPr>
              <a:t>Separate access levels for </a:t>
            </a:r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F3F3F3">
                    <a:alpha val="60000"/>
                  </a:srgbClr>
                </a:solidFill>
              </a:rPr>
              <a:t>Admin, Staff, and Customer </a:t>
            </a:r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F3F3F3">
                    <a:alpha val="60000"/>
                  </a:srgbClr>
                </a:solidFill>
              </a:rPr>
              <a:t>users.</a:t>
            </a:r>
            <a:endParaRPr lang="en-US" sz="1143" dirty="0"/>
          </a:p>
        </p:txBody>
      </p:sp>
      <p:sp>
        <p:nvSpPr>
          <p:cNvPr id="10" name="Shape 6"/>
          <p:cNvSpPr/>
          <p:nvPr/>
        </p:nvSpPr>
        <p:spPr>
          <a:xfrm>
            <a:off x="3398762" y="2443238"/>
            <a:ext cx="2352524" cy="145143"/>
          </a:xfrm>
          <a:custGeom>
            <a:avLst/>
            <a:gdLst/>
            <a:ahLst/>
            <a:cxnLst/>
            <a:rect l="l" t="t" r="r" b="b"/>
            <a:pathLst>
              <a:path w="2352524" h="145143">
                <a:moveTo>
                  <a:pt x="0" y="0"/>
                </a:moveTo>
                <a:lnTo>
                  <a:pt x="2352524" y="0"/>
                </a:lnTo>
                <a:lnTo>
                  <a:pt x="2352524" y="48381"/>
                </a:lnTo>
                <a:cubicBezTo>
                  <a:pt x="2352524" y="101821"/>
                  <a:pt x="2309202" y="145143"/>
                  <a:pt x="2255762" y="145143"/>
                </a:cubicBezTo>
                <a:lnTo>
                  <a:pt x="96762" y="145143"/>
                </a:lnTo>
                <a:cubicBezTo>
                  <a:pt x="43322" y="145143"/>
                  <a:pt x="0" y="101821"/>
                  <a:pt x="0" y="48381"/>
                </a:cubicBezTo>
                <a:close/>
              </a:path>
            </a:pathLst>
          </a:custGeom>
          <a:solidFill>
            <a:srgbClr val="0F0F0F"/>
          </a:solidFill>
          <a:ln/>
        </p:spPr>
      </p:sp>
      <p:sp>
        <p:nvSpPr>
          <p:cNvPr id="11" name="Shape 7"/>
          <p:cNvSpPr/>
          <p:nvPr/>
        </p:nvSpPr>
        <p:spPr>
          <a:xfrm>
            <a:off x="5962952" y="1028095"/>
            <a:ext cx="2352524" cy="1560286"/>
          </a:xfrm>
          <a:prstGeom prst="roundRect">
            <a:avLst>
              <a:gd name="adj" fmla="val 6202"/>
            </a:avLst>
          </a:prstGeom>
          <a:solidFill>
            <a:srgbClr val="262626">
              <a:alpha val="30000"/>
            </a:srgbClr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08095" y="1173238"/>
            <a:ext cx="169333" cy="16933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108095" y="1451429"/>
            <a:ext cx="2062238" cy="1136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F3F3F3"/>
                </a:solidFill>
              </a:rPr>
              <a:t>Inventory management</a:t>
            </a:r>
            <a:pPr algn="l" indent="0" marL="0">
              <a:buNone/>
            </a:pPr>
            <a:endParaRPr lang="en-US" sz="1143" dirty="0"/>
          </a:p>
          <a:p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F3F3F3">
                    <a:alpha val="60000"/>
                  </a:srgbClr>
                </a:solidFill>
              </a:rPr>
              <a:t>Add, Edit, Delete, and View </a:t>
            </a:r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F3F3F3">
                    <a:alpha val="60000"/>
                  </a:srgbClr>
                </a:solidFill>
              </a:rPr>
              <a:t>products with cart and stock </a:t>
            </a:r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F3F3F3">
                    <a:alpha val="60000"/>
                  </a:srgbClr>
                </a:solidFill>
              </a:rPr>
              <a:t>deduction.</a:t>
            </a:r>
            <a:endParaRPr lang="en-US" sz="1143" dirty="0"/>
          </a:p>
        </p:txBody>
      </p:sp>
      <p:sp>
        <p:nvSpPr>
          <p:cNvPr id="14" name="Shape 9"/>
          <p:cNvSpPr/>
          <p:nvPr/>
        </p:nvSpPr>
        <p:spPr>
          <a:xfrm>
            <a:off x="5962952" y="2443238"/>
            <a:ext cx="2352524" cy="145143"/>
          </a:xfrm>
          <a:custGeom>
            <a:avLst/>
            <a:gdLst/>
            <a:ahLst/>
            <a:cxnLst/>
            <a:rect l="l" t="t" r="r" b="b"/>
            <a:pathLst>
              <a:path w="2352524" h="145143">
                <a:moveTo>
                  <a:pt x="0" y="0"/>
                </a:moveTo>
                <a:lnTo>
                  <a:pt x="2352524" y="0"/>
                </a:lnTo>
                <a:lnTo>
                  <a:pt x="2352524" y="48381"/>
                </a:lnTo>
                <a:cubicBezTo>
                  <a:pt x="2352524" y="101821"/>
                  <a:pt x="2309202" y="145143"/>
                  <a:pt x="2255762" y="145143"/>
                </a:cubicBezTo>
                <a:lnTo>
                  <a:pt x="96762" y="145143"/>
                </a:lnTo>
                <a:cubicBezTo>
                  <a:pt x="43322" y="145143"/>
                  <a:pt x="0" y="101821"/>
                  <a:pt x="0" y="48381"/>
                </a:cubicBezTo>
                <a:close/>
              </a:path>
            </a:pathLst>
          </a:custGeom>
          <a:solidFill>
            <a:srgbClr val="0F0F0F"/>
          </a:solidFill>
          <a:ln/>
        </p:spPr>
      </p:sp>
      <p:sp>
        <p:nvSpPr>
          <p:cNvPr id="15" name="Shape 10"/>
          <p:cNvSpPr/>
          <p:nvPr/>
        </p:nvSpPr>
        <p:spPr>
          <a:xfrm>
            <a:off x="834571" y="2781905"/>
            <a:ext cx="2352524" cy="1560286"/>
          </a:xfrm>
          <a:prstGeom prst="roundRect">
            <a:avLst>
              <a:gd name="adj" fmla="val 6202"/>
            </a:avLst>
          </a:prstGeom>
          <a:solidFill>
            <a:srgbClr val="262626">
              <a:alpha val="30000"/>
            </a:srgbClr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79714" y="2927048"/>
            <a:ext cx="169333" cy="169333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79714" y="3205238"/>
            <a:ext cx="2062238" cy="1136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F3F3F3"/>
                </a:solidFill>
              </a:rPr>
              <a:t>Tiered membership</a:t>
            </a:r>
            <a:pPr algn="l" indent="0" marL="0">
              <a:buNone/>
            </a:pPr>
            <a:endParaRPr lang="en-US" sz="1143" dirty="0"/>
          </a:p>
          <a:p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F3F3F3">
                    <a:alpha val="60000"/>
                  </a:srgbClr>
                </a:solidFill>
              </a:rPr>
              <a:t>Silver (5%), Gold (10%), and </a:t>
            </a:r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F3F3F3">
                    <a:alpha val="60000"/>
                  </a:srgbClr>
                </a:solidFill>
              </a:rPr>
              <a:t>Platinum (15%) discount tiers </a:t>
            </a:r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F3F3F3">
                    <a:alpha val="60000"/>
                  </a:srgbClr>
                </a:solidFill>
              </a:rPr>
              <a:t>for members.</a:t>
            </a:r>
            <a:endParaRPr lang="en-US" sz="1143" dirty="0"/>
          </a:p>
        </p:txBody>
      </p:sp>
      <p:sp>
        <p:nvSpPr>
          <p:cNvPr id="18" name="Shape 12"/>
          <p:cNvSpPr/>
          <p:nvPr/>
        </p:nvSpPr>
        <p:spPr>
          <a:xfrm>
            <a:off x="834571" y="4197048"/>
            <a:ext cx="2352524" cy="145143"/>
          </a:xfrm>
          <a:custGeom>
            <a:avLst/>
            <a:gdLst/>
            <a:ahLst/>
            <a:cxnLst/>
            <a:rect l="l" t="t" r="r" b="b"/>
            <a:pathLst>
              <a:path w="2352524" h="145143">
                <a:moveTo>
                  <a:pt x="0" y="0"/>
                </a:moveTo>
                <a:lnTo>
                  <a:pt x="2352524" y="0"/>
                </a:lnTo>
                <a:lnTo>
                  <a:pt x="2352524" y="48381"/>
                </a:lnTo>
                <a:cubicBezTo>
                  <a:pt x="2352524" y="101821"/>
                  <a:pt x="2309202" y="145143"/>
                  <a:pt x="2255762" y="145143"/>
                </a:cubicBezTo>
                <a:lnTo>
                  <a:pt x="96762" y="145143"/>
                </a:lnTo>
                <a:cubicBezTo>
                  <a:pt x="43322" y="145143"/>
                  <a:pt x="0" y="101821"/>
                  <a:pt x="0" y="48381"/>
                </a:cubicBezTo>
                <a:close/>
              </a:path>
            </a:pathLst>
          </a:custGeom>
          <a:solidFill>
            <a:srgbClr val="0F0F0F"/>
          </a:solidFill>
          <a:ln/>
        </p:spPr>
      </p:sp>
      <p:sp>
        <p:nvSpPr>
          <p:cNvPr id="19" name="Shape 13"/>
          <p:cNvSpPr/>
          <p:nvPr/>
        </p:nvSpPr>
        <p:spPr>
          <a:xfrm>
            <a:off x="3404810" y="2781905"/>
            <a:ext cx="2352524" cy="1560286"/>
          </a:xfrm>
          <a:prstGeom prst="roundRect">
            <a:avLst>
              <a:gd name="adj" fmla="val 6202"/>
            </a:avLst>
          </a:prstGeom>
          <a:solidFill>
            <a:srgbClr val="262626">
              <a:alpha val="30000"/>
            </a:srgbClr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49952" y="2927048"/>
            <a:ext cx="169333" cy="169333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3549952" y="3205238"/>
            <a:ext cx="2062238" cy="1136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F3F3F3"/>
                </a:solidFill>
              </a:rPr>
              <a:t>Dual payment</a:t>
            </a:r>
            <a:pPr algn="l" indent="0" marL="0">
              <a:buNone/>
            </a:pPr>
            <a:endParaRPr lang="en-US" sz="1143" dirty="0"/>
          </a:p>
          <a:p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F3F3F3">
                    <a:alpha val="60000"/>
                  </a:srgbClr>
                </a:solidFill>
              </a:rPr>
              <a:t>Cash with change calculation </a:t>
            </a:r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F3F3F3">
                    <a:alpha val="60000"/>
                  </a:srgbClr>
                </a:solidFill>
              </a:rPr>
              <a:t>and UPI QR Code payment </a:t>
            </a:r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F3F3F3">
                    <a:alpha val="60000"/>
                  </a:srgbClr>
                </a:solidFill>
              </a:rPr>
              <a:t>support.</a:t>
            </a:r>
            <a:endParaRPr lang="en-US" sz="1143" dirty="0"/>
          </a:p>
        </p:txBody>
      </p:sp>
      <p:sp>
        <p:nvSpPr>
          <p:cNvPr id="22" name="Shape 15"/>
          <p:cNvSpPr/>
          <p:nvPr/>
        </p:nvSpPr>
        <p:spPr>
          <a:xfrm>
            <a:off x="3404810" y="4197048"/>
            <a:ext cx="2352524" cy="145143"/>
          </a:xfrm>
          <a:custGeom>
            <a:avLst/>
            <a:gdLst/>
            <a:ahLst/>
            <a:cxnLst/>
            <a:rect l="l" t="t" r="r" b="b"/>
            <a:pathLst>
              <a:path w="2352524" h="145143">
                <a:moveTo>
                  <a:pt x="0" y="0"/>
                </a:moveTo>
                <a:lnTo>
                  <a:pt x="2352524" y="0"/>
                </a:lnTo>
                <a:lnTo>
                  <a:pt x="2352524" y="48381"/>
                </a:lnTo>
                <a:cubicBezTo>
                  <a:pt x="2352524" y="101821"/>
                  <a:pt x="2309202" y="145143"/>
                  <a:pt x="2255762" y="145143"/>
                </a:cubicBezTo>
                <a:lnTo>
                  <a:pt x="96762" y="145143"/>
                </a:lnTo>
                <a:cubicBezTo>
                  <a:pt x="43322" y="145143"/>
                  <a:pt x="0" y="101821"/>
                  <a:pt x="0" y="48381"/>
                </a:cubicBezTo>
                <a:close/>
              </a:path>
            </a:pathLst>
          </a:custGeom>
          <a:solidFill>
            <a:srgbClr val="0F0F0F"/>
          </a:solidFill>
          <a:ln/>
        </p:spPr>
      </p:sp>
      <p:sp>
        <p:nvSpPr>
          <p:cNvPr id="23" name="Shape 16"/>
          <p:cNvSpPr/>
          <p:nvPr/>
        </p:nvSpPr>
        <p:spPr>
          <a:xfrm>
            <a:off x="5962952" y="2781905"/>
            <a:ext cx="2352524" cy="1560286"/>
          </a:xfrm>
          <a:prstGeom prst="roundRect">
            <a:avLst>
              <a:gd name="adj" fmla="val 6202"/>
            </a:avLst>
          </a:prstGeom>
          <a:solidFill>
            <a:srgbClr val="262626">
              <a:alpha val="30000"/>
            </a:srgbClr>
          </a:solidFill>
          <a:ln/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108095" y="2927048"/>
            <a:ext cx="169333" cy="169333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108095" y="3205238"/>
            <a:ext cx="2062238" cy="1136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F3F3F3"/>
                </a:solidFill>
              </a:rPr>
              <a:t>Sales reports</a:t>
            </a:r>
            <a:pPr algn="l" indent="0" marL="0">
              <a:buNone/>
            </a:pPr>
            <a:endParaRPr lang="en-US" sz="1143" dirty="0"/>
          </a:p>
          <a:p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F3F3F3">
                    <a:alpha val="60000"/>
                  </a:srgbClr>
                </a:solidFill>
              </a:rPr>
              <a:t>Revenue, discount, and </a:t>
            </a:r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F3F3F3">
                    <a:alpha val="60000"/>
                  </a:srgbClr>
                </a:solidFill>
              </a:rPr>
              <a:t>product-wise reports with </a:t>
            </a:r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F3F3F3">
                    <a:alpha val="60000"/>
                  </a:srgbClr>
                </a:solidFill>
              </a:rPr>
              <a:t>structured data records.</a:t>
            </a:r>
            <a:endParaRPr lang="en-US" sz="1143" dirty="0"/>
          </a:p>
        </p:txBody>
      </p:sp>
      <p:sp>
        <p:nvSpPr>
          <p:cNvPr id="26" name="Shape 18"/>
          <p:cNvSpPr/>
          <p:nvPr/>
        </p:nvSpPr>
        <p:spPr>
          <a:xfrm>
            <a:off x="5962952" y="4197048"/>
            <a:ext cx="2352524" cy="145143"/>
          </a:xfrm>
          <a:custGeom>
            <a:avLst/>
            <a:gdLst/>
            <a:ahLst/>
            <a:cxnLst/>
            <a:rect l="l" t="t" r="r" b="b"/>
            <a:pathLst>
              <a:path w="2352524" h="145143">
                <a:moveTo>
                  <a:pt x="0" y="0"/>
                </a:moveTo>
                <a:lnTo>
                  <a:pt x="2352524" y="0"/>
                </a:lnTo>
                <a:lnTo>
                  <a:pt x="2352524" y="48381"/>
                </a:lnTo>
                <a:cubicBezTo>
                  <a:pt x="2352524" y="101821"/>
                  <a:pt x="2309202" y="145143"/>
                  <a:pt x="2255762" y="145143"/>
                </a:cubicBezTo>
                <a:lnTo>
                  <a:pt x="96762" y="145143"/>
                </a:lnTo>
                <a:cubicBezTo>
                  <a:pt x="43322" y="145143"/>
                  <a:pt x="0" y="101821"/>
                  <a:pt x="0" y="48381"/>
                </a:cubicBezTo>
                <a:close/>
              </a:path>
            </a:pathLst>
          </a:custGeom>
          <a:solidFill>
            <a:srgbClr val="0F0F0F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3333" y="725714"/>
            <a:ext cx="5442857" cy="290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286" spc="-12" kern="0" dirty="0">
                <a:solidFill>
                  <a:srgbClr val="F2F2F2"/>
                </a:solidFill>
              </a:rPr>
              <a:t>System description</a:t>
            </a:r>
            <a:endParaRPr lang="en-US" sz="2286" dirty="0"/>
          </a:p>
        </p:txBody>
      </p:sp>
      <p:sp>
        <p:nvSpPr>
          <p:cNvPr id="3" name="Text 1"/>
          <p:cNvSpPr/>
          <p:nvPr/>
        </p:nvSpPr>
        <p:spPr>
          <a:xfrm>
            <a:off x="423333" y="1088571"/>
            <a:ext cx="5442857" cy="145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2" dirty="0">
                <a:solidFill>
                  <a:srgbClr val="97948C"/>
                </a:solidFill>
              </a:rPr>
              <a:t>Languages, libraries, data structures and architecture</a:t>
            </a:r>
            <a:endParaRPr lang="en-US" sz="952" dirty="0"/>
          </a:p>
        </p:txBody>
      </p:sp>
      <p:sp>
        <p:nvSpPr>
          <p:cNvPr id="4" name="Shape 2"/>
          <p:cNvSpPr/>
          <p:nvPr/>
        </p:nvSpPr>
        <p:spPr>
          <a:xfrm>
            <a:off x="423333" y="1324429"/>
            <a:ext cx="2540000" cy="1572381"/>
          </a:xfrm>
          <a:prstGeom prst="roundRect">
            <a:avLst>
              <a:gd name="adj" fmla="val 6154"/>
            </a:avLst>
          </a:prstGeom>
          <a:solidFill>
            <a:srgbClr val="191919"/>
          </a:solidFill>
          <a:ln/>
        </p:spPr>
      </p:sp>
      <p:sp>
        <p:nvSpPr>
          <p:cNvPr id="5" name="Text 3"/>
          <p:cNvSpPr/>
          <p:nvPr/>
        </p:nvSpPr>
        <p:spPr>
          <a:xfrm>
            <a:off x="568476" y="1469571"/>
            <a:ext cx="2249714" cy="1427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Language &amp; Platform</a:t>
            </a:r>
            <a:pPr algn="l" indent="0" marL="0">
              <a:buNone/>
            </a:pPr>
            <a:endParaRPr lang="en-US" sz="1143" dirty="0"/>
          </a:p>
          <a:p>
            <a:pPr algn="l" marL="127000" indent="-127000">
              <a:lnSpc>
                <a:spcPct val="100000"/>
              </a:lnSpc>
              <a:spcBef>
                <a:spcPts val="300"/>
              </a:spcBef>
              <a:buSzPct val="100000"/>
              <a:buChar char="•"/>
            </a:pPr>
            <a:r>
              <a:rPr lang="en-US" sz="952" dirty="0">
                <a:solidFill>
                  <a:srgbClr val="B8B8B8">
                    <a:alpha val="34000"/>
                  </a:srgbClr>
                </a:solidFill>
              </a:rPr>
              <a:t>C (Standard C)</a:t>
            </a:r>
            <a:pPr algn="l" indent="0" marL="0">
              <a:buNone/>
            </a:pPr>
            <a:endParaRPr lang="en-US" sz="1143" dirty="0"/>
          </a:p>
          <a:p>
            <a:pPr algn="l" marL="127000" indent="-127000">
              <a:lnSpc>
                <a:spcPct val="100000"/>
              </a:lnSpc>
              <a:spcBef>
                <a:spcPts val="300"/>
              </a:spcBef>
              <a:buSzPct val="100000"/>
              <a:buChar char="•"/>
            </a:pPr>
            <a:r>
              <a:rPr lang="en-US" sz="952" dirty="0">
                <a:solidFill>
                  <a:srgbClr val="B8B8B8">
                    <a:alpha val="34000"/>
                  </a:srgbClr>
                </a:solidFill>
              </a:rPr>
              <a:t>Windows Console App</a:t>
            </a:r>
            <a:pPr algn="l" indent="0" marL="0">
              <a:buNone/>
            </a:pPr>
            <a:endParaRPr lang="en-US" sz="1143" dirty="0"/>
          </a:p>
          <a:p>
            <a:pPr algn="l" marL="127000" indent="-127000">
              <a:lnSpc>
                <a:spcPct val="100000"/>
              </a:lnSpc>
              <a:spcBef>
                <a:spcPts val="300"/>
              </a:spcBef>
              <a:buSzPct val="100000"/>
              <a:buChar char="•"/>
            </a:pPr>
            <a:r>
              <a:rPr lang="en-US" sz="952" dirty="0">
                <a:solidFill>
                  <a:srgbClr val="B8B8B8">
                    <a:alpha val="34000"/>
                  </a:srgbClr>
                </a:solidFill>
              </a:rPr>
              <a:t>GCC / MinGW / Dev-C++ / </a:t>
            </a:r>
            <a:pPr algn="l" marL="127000" indent="-127000">
              <a:lnSpc>
                <a:spcPct val="100000"/>
              </a:lnSpc>
              <a:spcBef>
                <a:spcPts val="300"/>
              </a:spcBef>
              <a:buSzPct val="100000"/>
              <a:buChar char="•"/>
            </a:pPr>
            <a:r>
              <a:rPr lang="en-US" sz="952" dirty="0">
                <a:solidFill>
                  <a:srgbClr val="B8B8B8">
                    <a:alpha val="34000"/>
                  </a:srgbClr>
                </a:solidFill>
              </a:rPr>
              <a:t>Code::Blocks</a:t>
            </a:r>
            <a:endParaRPr lang="en-US" sz="1143" dirty="0"/>
          </a:p>
        </p:txBody>
      </p:sp>
      <p:sp>
        <p:nvSpPr>
          <p:cNvPr id="6" name="Shape 4"/>
          <p:cNvSpPr/>
          <p:nvPr/>
        </p:nvSpPr>
        <p:spPr>
          <a:xfrm>
            <a:off x="423333" y="2751667"/>
            <a:ext cx="2540000" cy="145143"/>
          </a:xfrm>
          <a:custGeom>
            <a:avLst/>
            <a:gdLst/>
            <a:ahLst/>
            <a:cxnLst/>
            <a:rect l="l" t="t" r="r" b="b"/>
            <a:pathLst>
              <a:path w="2540000" h="145143">
                <a:moveTo>
                  <a:pt x="0" y="0"/>
                </a:moveTo>
                <a:lnTo>
                  <a:pt x="2540000" y="0"/>
                </a:lnTo>
                <a:lnTo>
                  <a:pt x="2540000" y="48381"/>
                </a:lnTo>
                <a:cubicBezTo>
                  <a:pt x="2540000" y="101821"/>
                  <a:pt x="2496678" y="145143"/>
                  <a:pt x="2443238" y="145143"/>
                </a:cubicBezTo>
                <a:lnTo>
                  <a:pt x="96762" y="145143"/>
                </a:lnTo>
                <a:cubicBezTo>
                  <a:pt x="43322" y="145143"/>
                  <a:pt x="0" y="101821"/>
                  <a:pt x="0" y="48381"/>
                </a:cubicBezTo>
                <a:close/>
              </a:path>
            </a:pathLst>
          </a:custGeom>
          <a:solidFill>
            <a:srgbClr val="191919"/>
          </a:solidFill>
          <a:ln/>
        </p:spPr>
      </p:sp>
      <p:sp>
        <p:nvSpPr>
          <p:cNvPr id="7" name="Shape 5"/>
          <p:cNvSpPr/>
          <p:nvPr/>
        </p:nvSpPr>
        <p:spPr>
          <a:xfrm>
            <a:off x="3144762" y="1312333"/>
            <a:ext cx="2540000" cy="1753810"/>
          </a:xfrm>
          <a:prstGeom prst="roundRect">
            <a:avLst>
              <a:gd name="adj" fmla="val 5517"/>
            </a:avLst>
          </a:prstGeom>
          <a:solidFill>
            <a:srgbClr val="191919"/>
          </a:solidFill>
          <a:ln/>
        </p:spPr>
      </p:sp>
      <p:sp>
        <p:nvSpPr>
          <p:cNvPr id="8" name="Text 6"/>
          <p:cNvSpPr/>
          <p:nvPr/>
        </p:nvSpPr>
        <p:spPr>
          <a:xfrm>
            <a:off x="3289905" y="1457476"/>
            <a:ext cx="2249714" cy="1608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Libraries used</a:t>
            </a:r>
            <a:pPr algn="l" indent="0" marL="0">
              <a:buNone/>
            </a:pPr>
            <a:endParaRPr lang="en-US" sz="1143" dirty="0"/>
          </a:p>
          <a:p>
            <a:pPr algn="l" marL="127000" indent="-127000">
              <a:lnSpc>
                <a:spcPct val="100000"/>
              </a:lnSpc>
              <a:spcBef>
                <a:spcPts val="300"/>
              </a:spcBef>
              <a:buSzPct val="100000"/>
              <a:buChar char="•"/>
            </a:pPr>
            <a:r>
              <a:rPr lang="en-US" sz="952" dirty="0">
                <a:solidFill>
                  <a:srgbClr val="0F7050">
                    <a:alpha val="34000"/>
                  </a:srgbClr>
                </a:solidFill>
              </a:rPr>
              <a:t>stdio.h</a:t>
            </a:r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B8B8B8">
                    <a:alpha val="34000"/>
                  </a:srgbClr>
                </a:solidFill>
              </a:rPr>
              <a:t> — I/O operations</a:t>
            </a:r>
            <a:pPr algn="l" indent="0" marL="0">
              <a:buNone/>
            </a:pPr>
            <a:endParaRPr lang="en-US" sz="1143" dirty="0"/>
          </a:p>
          <a:p>
            <a:pPr algn="l" marL="127000" indent="-127000">
              <a:lnSpc>
                <a:spcPct val="100000"/>
              </a:lnSpc>
              <a:spcBef>
                <a:spcPts val="300"/>
              </a:spcBef>
              <a:buSzPct val="100000"/>
              <a:buChar char="•"/>
            </a:pPr>
            <a:r>
              <a:rPr lang="en-US" sz="952" dirty="0">
                <a:solidFill>
                  <a:srgbClr val="0F7050">
                    <a:alpha val="34000"/>
                  </a:srgbClr>
                </a:solidFill>
              </a:rPr>
              <a:t>string.h</a:t>
            </a:r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B8B8B8">
                    <a:alpha val="34000"/>
                  </a:srgbClr>
                </a:solidFill>
              </a:rPr>
              <a:t> — String handling</a:t>
            </a:r>
            <a:pPr algn="l" indent="0" marL="0">
              <a:buNone/>
            </a:pPr>
            <a:endParaRPr lang="en-US" sz="1143" dirty="0"/>
          </a:p>
          <a:p>
            <a:pPr algn="l" marL="127000" indent="-127000">
              <a:lnSpc>
                <a:spcPct val="100000"/>
              </a:lnSpc>
              <a:spcBef>
                <a:spcPts val="300"/>
              </a:spcBef>
              <a:buSzPct val="100000"/>
              <a:buChar char="•"/>
            </a:pPr>
            <a:r>
              <a:rPr lang="en-US" sz="952" dirty="0">
                <a:solidFill>
                  <a:srgbClr val="0F7050">
                    <a:alpha val="34000"/>
                  </a:srgbClr>
                </a:solidFill>
              </a:rPr>
              <a:t>ctype.h</a:t>
            </a:r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B8B8B8">
                    <a:alpha val="34000"/>
                  </a:srgbClr>
                </a:solidFill>
              </a:rPr>
              <a:t> — Char classification</a:t>
            </a:r>
            <a:pPr algn="l" indent="0" marL="0">
              <a:buNone/>
            </a:pPr>
            <a:endParaRPr lang="en-US" sz="1143" dirty="0"/>
          </a:p>
          <a:p>
            <a:pPr algn="l" marL="127000" indent="-127000">
              <a:lnSpc>
                <a:spcPct val="100000"/>
              </a:lnSpc>
              <a:spcBef>
                <a:spcPts val="300"/>
              </a:spcBef>
              <a:buSzPct val="100000"/>
              <a:buChar char="•"/>
            </a:pPr>
            <a:r>
              <a:rPr lang="en-US" sz="952" dirty="0">
                <a:solidFill>
                  <a:srgbClr val="0F7050">
                    <a:alpha val="34000"/>
                  </a:srgbClr>
                </a:solidFill>
              </a:rPr>
              <a:t>stdlib.h</a:t>
            </a:r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B8B8B8">
                    <a:alpha val="34000"/>
                  </a:srgbClr>
                </a:solidFill>
              </a:rPr>
              <a:t> — System calls, exit()</a:t>
            </a:r>
            <a:pPr algn="l" indent="0" marL="0">
              <a:buNone/>
            </a:pPr>
            <a:endParaRPr lang="en-US" sz="1143" dirty="0"/>
          </a:p>
          <a:p>
            <a:pPr algn="l" marL="127000" indent="-127000">
              <a:lnSpc>
                <a:spcPct val="100000"/>
              </a:lnSpc>
              <a:spcBef>
                <a:spcPts val="300"/>
              </a:spcBef>
              <a:buSzPct val="100000"/>
              <a:buChar char="•"/>
            </a:pPr>
            <a:r>
              <a:rPr lang="en-US" sz="952" dirty="0">
                <a:solidFill>
                  <a:srgbClr val="0F7050">
                    <a:alpha val="34000"/>
                  </a:srgbClr>
                </a:solidFill>
              </a:rPr>
              <a:t>windows.h</a:t>
            </a:r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B8B8B8">
                    <a:alpha val="34000"/>
                  </a:srgbClr>
                </a:solidFill>
              </a:rPr>
              <a:t> — UTF-8 / Unicode </a:t>
            </a:r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B8B8B8">
                    <a:alpha val="34000"/>
                  </a:srgbClr>
                </a:solidFill>
              </a:rPr>
              <a:t>support</a:t>
            </a:r>
            <a:endParaRPr lang="en-US" sz="1143" dirty="0"/>
          </a:p>
        </p:txBody>
      </p:sp>
      <p:sp>
        <p:nvSpPr>
          <p:cNvPr id="9" name="Shape 7"/>
          <p:cNvSpPr/>
          <p:nvPr/>
        </p:nvSpPr>
        <p:spPr>
          <a:xfrm>
            <a:off x="3144762" y="2921000"/>
            <a:ext cx="2540000" cy="145143"/>
          </a:xfrm>
          <a:custGeom>
            <a:avLst/>
            <a:gdLst/>
            <a:ahLst/>
            <a:cxnLst/>
            <a:rect l="l" t="t" r="r" b="b"/>
            <a:pathLst>
              <a:path w="2540000" h="145143">
                <a:moveTo>
                  <a:pt x="0" y="0"/>
                </a:moveTo>
                <a:lnTo>
                  <a:pt x="2540000" y="0"/>
                </a:lnTo>
                <a:lnTo>
                  <a:pt x="2540000" y="48381"/>
                </a:lnTo>
                <a:cubicBezTo>
                  <a:pt x="2540000" y="101821"/>
                  <a:pt x="2496678" y="145143"/>
                  <a:pt x="2443238" y="145143"/>
                </a:cubicBezTo>
                <a:lnTo>
                  <a:pt x="96762" y="145143"/>
                </a:lnTo>
                <a:cubicBezTo>
                  <a:pt x="43322" y="145143"/>
                  <a:pt x="0" y="101821"/>
                  <a:pt x="0" y="48381"/>
                </a:cubicBezTo>
                <a:close/>
              </a:path>
            </a:pathLst>
          </a:custGeom>
          <a:solidFill>
            <a:srgbClr val="191919"/>
          </a:solidFill>
          <a:ln/>
        </p:spPr>
      </p:sp>
      <p:sp>
        <p:nvSpPr>
          <p:cNvPr id="10" name="Shape 8"/>
          <p:cNvSpPr/>
          <p:nvPr/>
        </p:nvSpPr>
        <p:spPr>
          <a:xfrm>
            <a:off x="5866190" y="1312333"/>
            <a:ext cx="2902857" cy="2068286"/>
          </a:xfrm>
          <a:prstGeom prst="roundRect">
            <a:avLst>
              <a:gd name="adj" fmla="val 4678"/>
            </a:avLst>
          </a:prstGeom>
          <a:solidFill>
            <a:srgbClr val="191919"/>
          </a:solidFill>
          <a:ln/>
        </p:spPr>
      </p:sp>
      <p:sp>
        <p:nvSpPr>
          <p:cNvPr id="11" name="Text 9"/>
          <p:cNvSpPr/>
          <p:nvPr/>
        </p:nvSpPr>
        <p:spPr>
          <a:xfrm>
            <a:off x="6011333" y="1457476"/>
            <a:ext cx="2612571" cy="1923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Architecture</a:t>
            </a:r>
            <a:br/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000000"/>
                </a:solidFill>
              </a:rPr>
              <a:t>​</a:t>
            </a:r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B8B8B8">
                    <a:alpha val="56000"/>
                  </a:srgbClr>
                </a:solidFill>
              </a:rPr>
              <a:t>Menu-driven, modular function </a:t>
            </a:r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B8B8B8">
                    <a:alpha val="56000"/>
                  </a:srgbClr>
                </a:solidFill>
              </a:rPr>
              <a:t>design.</a:t>
            </a:r>
            <a:br/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000000"/>
                </a:solidFill>
              </a:rPr>
              <a:t>​</a:t>
            </a:r>
            <a:pPr algn="l" indent="0" marL="0">
              <a:buNone/>
            </a:pPr>
            <a:endParaRPr lang="en-US" sz="1143" dirty="0"/>
          </a:p>
          <a:p>
            <a:pPr algn="l" indent="0" marL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952" dirty="0">
                <a:solidFill>
                  <a:srgbClr val="B8B8B8">
                    <a:alpha val="60000"/>
                  </a:srgbClr>
                </a:solidFill>
              </a:rPr>
              <a:t>5 core modules:</a:t>
            </a:r>
            <a:pPr algn="l" indent="0" marL="0">
              <a:buNone/>
            </a:pPr>
            <a:endParaRPr lang="en-US" sz="1143" dirty="0"/>
          </a:p>
          <a:p>
            <a:pPr algn="l" marL="127000" indent="-127000">
              <a:lnSpc>
                <a:spcPct val="100000"/>
              </a:lnSpc>
              <a:spcBef>
                <a:spcPts val="300"/>
              </a:spcBef>
              <a:buSzPct val="100000"/>
              <a:buChar char="•"/>
            </a:pPr>
            <a:r>
              <a:rPr lang="en-US" sz="952" dirty="0">
                <a:solidFill>
                  <a:srgbClr val="B8B8B8">
                    <a:alpha val="34000"/>
                  </a:srgbClr>
                </a:solidFill>
              </a:rPr>
              <a:t>Inventory</a:t>
            </a:r>
            <a:pPr algn="l" indent="0" marL="0">
              <a:buNone/>
            </a:pPr>
            <a:endParaRPr lang="en-US" sz="1143" dirty="0"/>
          </a:p>
          <a:p>
            <a:pPr algn="l" marL="127000" indent="-127000">
              <a:lnSpc>
                <a:spcPct val="100000"/>
              </a:lnSpc>
              <a:spcBef>
                <a:spcPts val="300"/>
              </a:spcBef>
              <a:buSzPct val="100000"/>
              <a:buChar char="•"/>
            </a:pPr>
            <a:r>
              <a:rPr lang="en-US" sz="952" dirty="0">
                <a:solidFill>
                  <a:srgbClr val="B8B8B8">
                    <a:alpha val="34000"/>
                  </a:srgbClr>
                </a:solidFill>
              </a:rPr>
              <a:t>Members</a:t>
            </a:r>
            <a:pPr algn="l" indent="0" marL="0">
              <a:buNone/>
            </a:pPr>
            <a:endParaRPr lang="en-US" sz="1143" dirty="0"/>
          </a:p>
          <a:p>
            <a:pPr algn="l" marL="127000" indent="-127000">
              <a:lnSpc>
                <a:spcPct val="100000"/>
              </a:lnSpc>
              <a:spcBef>
                <a:spcPts val="300"/>
              </a:spcBef>
              <a:buSzPct val="100000"/>
              <a:buChar char="•"/>
            </a:pPr>
            <a:r>
              <a:rPr lang="en-US" sz="952" dirty="0">
                <a:solidFill>
                  <a:srgbClr val="B8B8B8">
                    <a:alpha val="34000"/>
                  </a:srgbClr>
                </a:solidFill>
              </a:rPr>
              <a:t>Customer Self-Checkout</a:t>
            </a:r>
            <a:pPr algn="l" indent="0" marL="0">
              <a:buNone/>
            </a:pPr>
            <a:endParaRPr lang="en-US" sz="1143" dirty="0"/>
          </a:p>
          <a:p>
            <a:pPr algn="l" marL="127000" indent="-127000">
              <a:lnSpc>
                <a:spcPct val="100000"/>
              </a:lnSpc>
              <a:spcBef>
                <a:spcPts val="300"/>
              </a:spcBef>
              <a:buSzPct val="100000"/>
              <a:buChar char="•"/>
            </a:pPr>
            <a:r>
              <a:rPr lang="en-US" sz="952" dirty="0">
                <a:solidFill>
                  <a:srgbClr val="B8B8B8">
                    <a:alpha val="34000"/>
                  </a:srgbClr>
                </a:solidFill>
              </a:rPr>
              <a:t>Sales Reports</a:t>
            </a:r>
            <a:pPr algn="l" indent="0" marL="0">
              <a:buNone/>
            </a:pPr>
            <a:endParaRPr lang="en-US" sz="1143" dirty="0"/>
          </a:p>
          <a:p>
            <a:pPr algn="l" marL="127000" indent="-127000">
              <a:lnSpc>
                <a:spcPct val="100000"/>
              </a:lnSpc>
              <a:spcBef>
                <a:spcPts val="300"/>
              </a:spcBef>
              <a:buSzPct val="100000"/>
              <a:buChar char="•"/>
            </a:pPr>
            <a:r>
              <a:rPr lang="en-US" sz="952" dirty="0">
                <a:solidFill>
                  <a:srgbClr val="B8B8B8">
                    <a:alpha val="34000"/>
                  </a:srgbClr>
                </a:solidFill>
              </a:rPr>
              <a:t>Customer Accounts</a:t>
            </a:r>
            <a:endParaRPr lang="en-US" sz="1143" dirty="0"/>
          </a:p>
        </p:txBody>
      </p:sp>
      <p:sp>
        <p:nvSpPr>
          <p:cNvPr id="12" name="Shape 10"/>
          <p:cNvSpPr/>
          <p:nvPr/>
        </p:nvSpPr>
        <p:spPr>
          <a:xfrm>
            <a:off x="5866190" y="3235476"/>
            <a:ext cx="2902857" cy="145143"/>
          </a:xfrm>
          <a:custGeom>
            <a:avLst/>
            <a:gdLst/>
            <a:ahLst/>
            <a:cxnLst/>
            <a:rect l="l" t="t" r="r" b="b"/>
            <a:pathLst>
              <a:path w="2902857" h="145143">
                <a:moveTo>
                  <a:pt x="0" y="0"/>
                </a:moveTo>
                <a:lnTo>
                  <a:pt x="2902857" y="0"/>
                </a:lnTo>
                <a:lnTo>
                  <a:pt x="2902857" y="48381"/>
                </a:lnTo>
                <a:cubicBezTo>
                  <a:pt x="2902857" y="101821"/>
                  <a:pt x="2859535" y="145143"/>
                  <a:pt x="2806095" y="145143"/>
                </a:cubicBezTo>
                <a:lnTo>
                  <a:pt x="96762" y="145143"/>
                </a:lnTo>
                <a:cubicBezTo>
                  <a:pt x="43322" y="145143"/>
                  <a:pt x="0" y="101821"/>
                  <a:pt x="0" y="48381"/>
                </a:cubicBezTo>
                <a:close/>
              </a:path>
            </a:pathLst>
          </a:custGeom>
          <a:solidFill>
            <a:srgbClr val="191919"/>
          </a:solidFill>
          <a:ln/>
        </p:spPr>
      </p:sp>
      <p:sp>
        <p:nvSpPr>
          <p:cNvPr id="13" name="Text 11"/>
          <p:cNvSpPr/>
          <p:nvPr/>
        </p:nvSpPr>
        <p:spPr>
          <a:xfrm>
            <a:off x="423333" y="3205238"/>
            <a:ext cx="2540000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Data structures (structs)</a:t>
            </a:r>
            <a:endParaRPr lang="en-US" sz="1143" dirty="0"/>
          </a:p>
        </p:txBody>
      </p:sp>
      <p:sp>
        <p:nvSpPr>
          <p:cNvPr id="14" name="Shape 12"/>
          <p:cNvSpPr/>
          <p:nvPr/>
        </p:nvSpPr>
        <p:spPr>
          <a:xfrm>
            <a:off x="423333" y="3507619"/>
            <a:ext cx="1874762" cy="1088571"/>
          </a:xfrm>
          <a:prstGeom prst="roundRect">
            <a:avLst>
              <a:gd name="adj" fmla="val 8889"/>
            </a:avLst>
          </a:prstGeom>
          <a:solidFill>
            <a:srgbClr val="191919"/>
          </a:solidFill>
          <a:ln/>
        </p:spPr>
      </p:sp>
      <p:sp>
        <p:nvSpPr>
          <p:cNvPr id="15" name="Text 13"/>
          <p:cNvSpPr/>
          <p:nvPr/>
        </p:nvSpPr>
        <p:spPr>
          <a:xfrm>
            <a:off x="568476" y="3652762"/>
            <a:ext cx="1584476" cy="943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Product</a:t>
            </a:r>
            <a:br/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000000"/>
                </a:solidFill>
              </a:rPr>
              <a:t>​</a:t>
            </a:r>
            <a:br/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000000"/>
                </a:solidFill>
              </a:rPr>
              <a:t>​</a:t>
            </a:r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97948C">
                    <a:alpha val="56000"/>
                  </a:srgbClr>
                </a:solidFill>
              </a:rPr>
              <a:t>pCode · pName · </a:t>
            </a:r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97948C">
                    <a:alpha val="56000"/>
                  </a:srgbClr>
                </a:solidFill>
              </a:rPr>
              <a:t>pPrice · pStock · </a:t>
            </a:r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97948C">
                    <a:alpha val="56000"/>
                  </a:srgbClr>
                </a:solidFill>
              </a:rPr>
              <a:t>pCategory</a:t>
            </a:r>
            <a:endParaRPr lang="en-US" sz="1143" dirty="0"/>
          </a:p>
        </p:txBody>
      </p:sp>
      <p:sp>
        <p:nvSpPr>
          <p:cNvPr id="16" name="Shape 14"/>
          <p:cNvSpPr/>
          <p:nvPr/>
        </p:nvSpPr>
        <p:spPr>
          <a:xfrm>
            <a:off x="423333" y="4451048"/>
            <a:ext cx="1874762" cy="145143"/>
          </a:xfrm>
          <a:custGeom>
            <a:avLst/>
            <a:gdLst/>
            <a:ahLst/>
            <a:cxnLst/>
            <a:rect l="l" t="t" r="r" b="b"/>
            <a:pathLst>
              <a:path w="1874762" h="145143">
                <a:moveTo>
                  <a:pt x="0" y="0"/>
                </a:moveTo>
                <a:lnTo>
                  <a:pt x="1874762" y="0"/>
                </a:lnTo>
                <a:lnTo>
                  <a:pt x="1874762" y="48381"/>
                </a:lnTo>
                <a:cubicBezTo>
                  <a:pt x="1874762" y="101821"/>
                  <a:pt x="1831440" y="145143"/>
                  <a:pt x="1778000" y="145143"/>
                </a:cubicBezTo>
                <a:lnTo>
                  <a:pt x="96762" y="145143"/>
                </a:lnTo>
                <a:cubicBezTo>
                  <a:pt x="43322" y="145143"/>
                  <a:pt x="0" y="101821"/>
                  <a:pt x="0" y="48381"/>
                </a:cubicBezTo>
                <a:close/>
              </a:path>
            </a:pathLst>
          </a:custGeom>
          <a:solidFill>
            <a:srgbClr val="191919"/>
          </a:solidFill>
          <a:ln/>
        </p:spPr>
      </p:sp>
      <p:sp>
        <p:nvSpPr>
          <p:cNvPr id="17" name="Shape 15"/>
          <p:cNvSpPr/>
          <p:nvPr/>
        </p:nvSpPr>
        <p:spPr>
          <a:xfrm>
            <a:off x="2419048" y="3507619"/>
            <a:ext cx="1874762" cy="1088571"/>
          </a:xfrm>
          <a:prstGeom prst="roundRect">
            <a:avLst>
              <a:gd name="adj" fmla="val 8889"/>
            </a:avLst>
          </a:prstGeom>
          <a:solidFill>
            <a:srgbClr val="191919"/>
          </a:solidFill>
          <a:ln/>
        </p:spPr>
      </p:sp>
      <p:sp>
        <p:nvSpPr>
          <p:cNvPr id="18" name="Text 16"/>
          <p:cNvSpPr/>
          <p:nvPr/>
        </p:nvSpPr>
        <p:spPr>
          <a:xfrm>
            <a:off x="2564190" y="3652762"/>
            <a:ext cx="1584476" cy="943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Member</a:t>
            </a:r>
            <a:br/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000000"/>
                </a:solidFill>
              </a:rPr>
              <a:t>​</a:t>
            </a:r>
            <a:br/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000000"/>
                </a:solidFill>
              </a:rPr>
              <a:t>​</a:t>
            </a:r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97948C">
                    <a:alpha val="56000"/>
                  </a:srgbClr>
                </a:solidFill>
              </a:rPr>
              <a:t>mId · mName · </a:t>
            </a:r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97948C">
                    <a:alpha val="56000"/>
                  </a:srgbClr>
                </a:solidFill>
              </a:rPr>
              <a:t>mSpent · mTier · </a:t>
            </a:r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97948C">
                    <a:alpha val="56000"/>
                  </a:srgbClr>
                </a:solidFill>
              </a:rPr>
              <a:t>mDisc · mUsed</a:t>
            </a:r>
            <a:endParaRPr lang="en-US" sz="1143" dirty="0"/>
          </a:p>
        </p:txBody>
      </p:sp>
      <p:sp>
        <p:nvSpPr>
          <p:cNvPr id="19" name="Shape 17"/>
          <p:cNvSpPr/>
          <p:nvPr/>
        </p:nvSpPr>
        <p:spPr>
          <a:xfrm>
            <a:off x="2419048" y="4451048"/>
            <a:ext cx="1874762" cy="145143"/>
          </a:xfrm>
          <a:custGeom>
            <a:avLst/>
            <a:gdLst/>
            <a:ahLst/>
            <a:cxnLst/>
            <a:rect l="l" t="t" r="r" b="b"/>
            <a:pathLst>
              <a:path w="1874762" h="145143">
                <a:moveTo>
                  <a:pt x="0" y="0"/>
                </a:moveTo>
                <a:lnTo>
                  <a:pt x="1874762" y="0"/>
                </a:lnTo>
                <a:lnTo>
                  <a:pt x="1874762" y="48381"/>
                </a:lnTo>
                <a:cubicBezTo>
                  <a:pt x="1874762" y="101821"/>
                  <a:pt x="1831440" y="145143"/>
                  <a:pt x="1778000" y="145143"/>
                </a:cubicBezTo>
                <a:lnTo>
                  <a:pt x="96762" y="145143"/>
                </a:lnTo>
                <a:cubicBezTo>
                  <a:pt x="43322" y="145143"/>
                  <a:pt x="0" y="101821"/>
                  <a:pt x="0" y="48381"/>
                </a:cubicBezTo>
                <a:close/>
              </a:path>
            </a:pathLst>
          </a:custGeom>
          <a:solidFill>
            <a:srgbClr val="191919"/>
          </a:solidFill>
          <a:ln/>
        </p:spPr>
      </p:sp>
      <p:sp>
        <p:nvSpPr>
          <p:cNvPr id="20" name="Shape 18"/>
          <p:cNvSpPr/>
          <p:nvPr/>
        </p:nvSpPr>
        <p:spPr>
          <a:xfrm>
            <a:off x="4414762" y="3507619"/>
            <a:ext cx="1874762" cy="1088571"/>
          </a:xfrm>
          <a:prstGeom prst="roundRect">
            <a:avLst>
              <a:gd name="adj" fmla="val 8889"/>
            </a:avLst>
          </a:prstGeom>
          <a:solidFill>
            <a:srgbClr val="191919"/>
          </a:solidFill>
          <a:ln/>
        </p:spPr>
      </p:sp>
      <p:sp>
        <p:nvSpPr>
          <p:cNvPr id="21" name="Text 19"/>
          <p:cNvSpPr/>
          <p:nvPr/>
        </p:nvSpPr>
        <p:spPr>
          <a:xfrm>
            <a:off x="4559905" y="3652762"/>
            <a:ext cx="1584476" cy="943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CartItem</a:t>
            </a:r>
            <a:br/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000000"/>
                </a:solidFill>
              </a:rPr>
              <a:t>​</a:t>
            </a:r>
            <a:br/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000000"/>
                </a:solidFill>
              </a:rPr>
              <a:t>​</a:t>
            </a:r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97948C">
                    <a:alpha val="56000"/>
                  </a:srgbClr>
                </a:solidFill>
              </a:rPr>
              <a:t>code · name · price </a:t>
            </a:r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97948C">
                    <a:alpha val="56000"/>
                  </a:srgbClr>
                </a:solidFill>
              </a:rPr>
              <a:t>· qty</a:t>
            </a:r>
            <a:endParaRPr lang="en-US" sz="1143" dirty="0"/>
          </a:p>
        </p:txBody>
      </p:sp>
      <p:sp>
        <p:nvSpPr>
          <p:cNvPr id="22" name="Shape 20"/>
          <p:cNvSpPr/>
          <p:nvPr/>
        </p:nvSpPr>
        <p:spPr>
          <a:xfrm>
            <a:off x="4414762" y="4451048"/>
            <a:ext cx="1874762" cy="145143"/>
          </a:xfrm>
          <a:custGeom>
            <a:avLst/>
            <a:gdLst/>
            <a:ahLst/>
            <a:cxnLst/>
            <a:rect l="l" t="t" r="r" b="b"/>
            <a:pathLst>
              <a:path w="1874762" h="145143">
                <a:moveTo>
                  <a:pt x="0" y="0"/>
                </a:moveTo>
                <a:lnTo>
                  <a:pt x="1874762" y="0"/>
                </a:lnTo>
                <a:lnTo>
                  <a:pt x="1874762" y="48381"/>
                </a:lnTo>
                <a:cubicBezTo>
                  <a:pt x="1874762" y="101821"/>
                  <a:pt x="1831440" y="145143"/>
                  <a:pt x="1778000" y="145143"/>
                </a:cubicBezTo>
                <a:lnTo>
                  <a:pt x="96762" y="145143"/>
                </a:lnTo>
                <a:cubicBezTo>
                  <a:pt x="43322" y="145143"/>
                  <a:pt x="0" y="101821"/>
                  <a:pt x="0" y="48381"/>
                </a:cubicBezTo>
                <a:close/>
              </a:path>
            </a:pathLst>
          </a:custGeom>
          <a:solidFill>
            <a:srgbClr val="191919"/>
          </a:solidFill>
          <a:ln/>
        </p:spPr>
      </p:sp>
      <p:sp>
        <p:nvSpPr>
          <p:cNvPr id="23" name="Shape 21"/>
          <p:cNvSpPr/>
          <p:nvPr/>
        </p:nvSpPr>
        <p:spPr>
          <a:xfrm>
            <a:off x="6410476" y="3507619"/>
            <a:ext cx="2358571" cy="1360714"/>
          </a:xfrm>
          <a:prstGeom prst="roundRect">
            <a:avLst>
              <a:gd name="adj" fmla="val 7111"/>
            </a:avLst>
          </a:prstGeom>
          <a:solidFill>
            <a:srgbClr val="191919"/>
          </a:solidFill>
          <a:ln/>
        </p:spPr>
      </p:sp>
      <p:sp>
        <p:nvSpPr>
          <p:cNvPr id="24" name="Text 22"/>
          <p:cNvSpPr/>
          <p:nvPr/>
        </p:nvSpPr>
        <p:spPr>
          <a:xfrm>
            <a:off x="6555619" y="3652762"/>
            <a:ext cx="2068286" cy="1215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Sale &amp; Customer</a:t>
            </a:r>
            <a:br/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000000"/>
                </a:solidFill>
              </a:rPr>
              <a:t>​</a:t>
            </a:r>
            <a:br/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000000"/>
                </a:solidFill>
              </a:rPr>
              <a:t>​</a:t>
            </a:r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97948C">
                    <a:alpha val="56000"/>
                  </a:srgbClr>
                </a:solidFill>
              </a:rPr>
              <a:t>Sale: pCode · pName · qty </a:t>
            </a:r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97948C">
                    <a:alpha val="56000"/>
                  </a:srgbClr>
                </a:solidFill>
              </a:rPr>
              <a:t>· price · total</a:t>
            </a:r>
            <a:br/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000000"/>
                </a:solidFill>
              </a:rPr>
              <a:t>​</a:t>
            </a:r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97948C">
                    <a:alpha val="56000"/>
                  </a:srgbClr>
                </a:solidFill>
              </a:rPr>
              <a:t>Customer: cId · cName · </a:t>
            </a:r>
            <a:pPr algn="l" indent="0" marL="0">
              <a:lnSpc>
                <a:spcPct val="80000"/>
              </a:lnSpc>
              <a:buNone/>
            </a:pPr>
            <a:r>
              <a:rPr lang="en-US" sz="1143" dirty="0">
                <a:solidFill>
                  <a:srgbClr val="97948C">
                    <a:alpha val="56000"/>
                  </a:srgbClr>
                </a:solidFill>
              </a:rPr>
              <a:t>cPass · cMemberId</a:t>
            </a:r>
            <a:endParaRPr lang="en-US" sz="1143" dirty="0"/>
          </a:p>
        </p:txBody>
      </p:sp>
      <p:sp>
        <p:nvSpPr>
          <p:cNvPr id="25" name="Shape 23"/>
          <p:cNvSpPr/>
          <p:nvPr/>
        </p:nvSpPr>
        <p:spPr>
          <a:xfrm>
            <a:off x="6410476" y="4723190"/>
            <a:ext cx="2358571" cy="145143"/>
          </a:xfrm>
          <a:custGeom>
            <a:avLst/>
            <a:gdLst/>
            <a:ahLst/>
            <a:cxnLst/>
            <a:rect l="l" t="t" r="r" b="b"/>
            <a:pathLst>
              <a:path w="2358571" h="145143">
                <a:moveTo>
                  <a:pt x="0" y="0"/>
                </a:moveTo>
                <a:lnTo>
                  <a:pt x="2358571" y="0"/>
                </a:lnTo>
                <a:lnTo>
                  <a:pt x="2358571" y="48381"/>
                </a:lnTo>
                <a:cubicBezTo>
                  <a:pt x="2358571" y="101821"/>
                  <a:pt x="2315250" y="145143"/>
                  <a:pt x="2261810" y="145143"/>
                </a:cubicBezTo>
                <a:lnTo>
                  <a:pt x="96762" y="145143"/>
                </a:lnTo>
                <a:cubicBezTo>
                  <a:pt x="43322" y="145143"/>
                  <a:pt x="0" y="101821"/>
                  <a:pt x="0" y="48381"/>
                </a:cubicBezTo>
                <a:close/>
              </a:path>
            </a:pathLst>
          </a:custGeom>
          <a:solidFill>
            <a:srgbClr val="191919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5190" y="338667"/>
            <a:ext cx="7976810" cy="290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286" dirty="0">
                <a:solidFill>
                  <a:srgbClr val="F2F2F2"/>
                </a:solidFill>
              </a:rPr>
              <a:t>Screenshots</a:t>
            </a:r>
            <a:endParaRPr lang="en-US" sz="2286" dirty="0"/>
          </a:p>
        </p:txBody>
      </p:sp>
      <p:pic>
        <p:nvPicPr>
          <p:cNvPr id="3" name="Image 0" descr="https://files.chroniclehq.com/ai-images/ai-generated-1e167358-b19c-4596-8cb9-8fc7b9dc5db4.png">    </p:cNvPr>
          <p:cNvPicPr>
            <a:picLocks noChangeAspect="1"/>
          </p:cNvPicPr>
          <p:nvPr/>
        </p:nvPicPr>
        <p:blipFill>
          <a:blip r:embed="rId1"/>
          <a:srcRect l="0" r="0" t="4370" b="4370"/>
          <a:stretch/>
        </p:blipFill>
        <p:spPr>
          <a:xfrm>
            <a:off x="405190" y="1161143"/>
            <a:ext cx="2352524" cy="2146905"/>
          </a:xfrm>
          <a:prstGeom prst="rect">
            <a:avLst/>
          </a:prstGeom>
        </p:spPr>
      </p:pic>
      <p:pic>
        <p:nvPicPr>
          <p:cNvPr id="4" name="Image 1" descr="https://files.chroniclehq.com/ai-images/ai-generated-6a58b7ca-dc70-4076-9dd5-5489903af30d.png">    </p:cNvPr>
          <p:cNvPicPr>
            <a:picLocks noChangeAspect="1"/>
          </p:cNvPicPr>
          <p:nvPr/>
        </p:nvPicPr>
        <p:blipFill>
          <a:blip r:embed="rId2"/>
          <a:srcRect l="0" r="0" t="4370" b="4370"/>
          <a:stretch/>
        </p:blipFill>
        <p:spPr>
          <a:xfrm>
            <a:off x="3332238" y="1161143"/>
            <a:ext cx="2352524" cy="2146905"/>
          </a:xfrm>
          <a:prstGeom prst="rect">
            <a:avLst/>
          </a:prstGeom>
        </p:spPr>
      </p:pic>
      <p:pic>
        <p:nvPicPr>
          <p:cNvPr id="5" name="Image 2" descr="https://files.chroniclehq.com/ai-images/ai-generated-43a385f8-5f31-4505-9177-70675282c6b0.png">    </p:cNvPr>
          <p:cNvPicPr>
            <a:picLocks noChangeAspect="1"/>
          </p:cNvPicPr>
          <p:nvPr/>
        </p:nvPicPr>
        <p:blipFill>
          <a:blip r:embed="rId3"/>
          <a:srcRect l="0" r="0" t="4370" b="4370"/>
          <a:stretch/>
        </p:blipFill>
        <p:spPr>
          <a:xfrm>
            <a:off x="6283476" y="1155095"/>
            <a:ext cx="2352524" cy="2146905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406909" y="3473748"/>
            <a:ext cx="2352524" cy="10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62" dirty="0">
                <a:solidFill>
                  <a:srgbClr val="B8B8B8"/>
                </a:solidFill>
              </a:rPr>
              <a:t>Main menu and login</a:t>
            </a:r>
            <a:endParaRPr lang="en-US" sz="762" dirty="0"/>
          </a:p>
        </p:txBody>
      </p:sp>
      <p:sp>
        <p:nvSpPr>
          <p:cNvPr id="7" name="Text 2"/>
          <p:cNvSpPr/>
          <p:nvPr/>
        </p:nvSpPr>
        <p:spPr>
          <a:xfrm>
            <a:off x="405190" y="3592286"/>
            <a:ext cx="2352524" cy="331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50000"/>
              </a:lnSpc>
              <a:buSzPct val="100000"/>
              <a:buChar char="•"/>
            </a:pPr>
            <a:r>
              <a:rPr lang="en-US" sz="667" dirty="0">
                <a:solidFill>
                  <a:srgbClr val="808080"/>
                </a:solidFill>
              </a:rPr>
              <a:t>Role selection: Customer, Staff, Admin</a:t>
            </a:r>
            <a:pPr algn="l" indent="0" marL="0">
              <a:lnSpc>
                <a:spcPct val="100000"/>
              </a:lnSpc>
              <a:buNone/>
            </a:pPr>
            <a:endParaRPr lang="en-US" sz="667" dirty="0"/>
          </a:p>
          <a:p>
            <a:pPr algn="l" marL="127000" indent="-127000">
              <a:lnSpc>
                <a:spcPct val="150000"/>
              </a:lnSpc>
              <a:buSzPct val="100000"/>
              <a:buChar char="•"/>
            </a:pPr>
            <a:r>
              <a:rPr lang="en-US" sz="667" dirty="0">
                <a:solidFill>
                  <a:srgbClr val="808080"/>
                </a:solidFill>
              </a:rPr>
              <a:t>Customer login and self-checkout menu</a:t>
            </a:r>
            <a:endParaRPr lang="en-US" sz="667" dirty="0"/>
          </a:p>
        </p:txBody>
      </p:sp>
      <p:sp>
        <p:nvSpPr>
          <p:cNvPr id="8" name="Text 3"/>
          <p:cNvSpPr/>
          <p:nvPr/>
        </p:nvSpPr>
        <p:spPr>
          <a:xfrm>
            <a:off x="3353218" y="3473748"/>
            <a:ext cx="2352524" cy="10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62" dirty="0">
                <a:solidFill>
                  <a:srgbClr val="B8B8B8"/>
                </a:solidFill>
              </a:rPr>
              <a:t>Product and cart flow</a:t>
            </a:r>
            <a:endParaRPr lang="en-US" sz="762" dirty="0"/>
          </a:p>
        </p:txBody>
      </p:sp>
      <p:sp>
        <p:nvSpPr>
          <p:cNvPr id="9" name="Text 4"/>
          <p:cNvSpPr/>
          <p:nvPr/>
        </p:nvSpPr>
        <p:spPr>
          <a:xfrm>
            <a:off x="3332238" y="3592286"/>
            <a:ext cx="2352524" cy="331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50000"/>
              </a:lnSpc>
              <a:buSzPct val="100000"/>
              <a:buChar char="•"/>
            </a:pPr>
            <a:r>
              <a:rPr lang="en-US" sz="667" dirty="0">
                <a:solidFill>
                  <a:srgbClr val="808080"/>
                </a:solidFill>
              </a:rPr>
              <a:t>Product list: Code, Name, Price, Stock</a:t>
            </a:r>
            <a:pPr algn="l" indent="0" marL="0">
              <a:lnSpc>
                <a:spcPct val="100000"/>
              </a:lnSpc>
              <a:buNone/>
            </a:pPr>
            <a:endParaRPr lang="en-US" sz="667" dirty="0"/>
          </a:p>
          <a:p>
            <a:pPr algn="l" marL="127000" indent="-127000">
              <a:lnSpc>
                <a:spcPct val="150000"/>
              </a:lnSpc>
              <a:buSzPct val="100000"/>
              <a:buChar char="•"/>
            </a:pPr>
            <a:r>
              <a:rPr lang="en-US" sz="667" dirty="0">
                <a:solidFill>
                  <a:srgbClr val="808080"/>
                </a:solidFill>
              </a:rPr>
              <a:t>Add to cart and Admin inventory table</a:t>
            </a:r>
            <a:endParaRPr lang="en-US" sz="667" dirty="0"/>
          </a:p>
        </p:txBody>
      </p:sp>
      <p:sp>
        <p:nvSpPr>
          <p:cNvPr id="10" name="Text 5"/>
          <p:cNvSpPr/>
          <p:nvPr/>
        </p:nvSpPr>
        <p:spPr>
          <a:xfrm>
            <a:off x="6353956" y="3473748"/>
            <a:ext cx="2352524" cy="106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62" dirty="0">
                <a:solidFill>
                  <a:srgbClr val="B8B8B8"/>
                </a:solidFill>
              </a:rPr>
              <a:t>Checkout and payment</a:t>
            </a:r>
            <a:endParaRPr lang="en-US" sz="762" dirty="0"/>
          </a:p>
        </p:txBody>
      </p:sp>
      <p:sp>
        <p:nvSpPr>
          <p:cNvPr id="11" name="Text 6"/>
          <p:cNvSpPr/>
          <p:nvPr/>
        </p:nvSpPr>
        <p:spPr>
          <a:xfrm>
            <a:off x="6356048" y="3592286"/>
            <a:ext cx="2352524" cy="331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lnSpc>
                <a:spcPct val="150000"/>
              </a:lnSpc>
              <a:buSzPct val="100000"/>
              <a:buChar char="•"/>
            </a:pPr>
            <a:r>
              <a:rPr lang="en-US" sz="667" dirty="0">
                <a:solidFill>
                  <a:srgbClr val="808080"/>
                </a:solidFill>
              </a:rPr>
              <a:t>Subtotal, discount, payable amount</a:t>
            </a:r>
            <a:pPr algn="l" indent="0" marL="0">
              <a:lnSpc>
                <a:spcPct val="100000"/>
              </a:lnSpc>
              <a:buNone/>
            </a:pPr>
            <a:endParaRPr lang="en-US" sz="667" dirty="0"/>
          </a:p>
          <a:p>
            <a:pPr algn="l" marL="127000" indent="-127000">
              <a:lnSpc>
                <a:spcPct val="150000"/>
              </a:lnSpc>
              <a:buSzPct val="100000"/>
              <a:buChar char="•"/>
            </a:pPr>
            <a:r>
              <a:rPr lang="en-US" sz="667" dirty="0">
                <a:solidFill>
                  <a:srgbClr val="808080"/>
                </a:solidFill>
              </a:rPr>
              <a:t>QR code UPI payment and sales report</a:t>
            </a:r>
            <a:endParaRPr lang="en-US" sz="667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6381" y="338667"/>
            <a:ext cx="7988905" cy="38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48" spc="-36" kern="0" dirty="0">
                <a:solidFill>
                  <a:srgbClr val="F2F2F2"/>
                </a:solidFill>
              </a:rPr>
              <a:t>Test cases</a:t>
            </a:r>
            <a:endParaRPr lang="en-US" sz="3048" dirty="0"/>
          </a:p>
        </p:txBody>
      </p:sp>
      <p:sp>
        <p:nvSpPr>
          <p:cNvPr id="3" name="Text 1"/>
          <p:cNvSpPr/>
          <p:nvPr/>
        </p:nvSpPr>
        <p:spPr>
          <a:xfrm>
            <a:off x="556381" y="834571"/>
            <a:ext cx="7988905" cy="17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All 12 test cases passed. AYH MART Self Checkout System - functional validation results.</a:t>
            </a:r>
            <a:endParaRPr lang="en-US" sz="1143" dirty="0"/>
          </a:p>
        </p:txBody>
      </p:sp>
      <p:pic>
        <p:nvPicPr>
          <p:cNvPr id="4" name="Image 0" descr="https://files.chroniclehq.com/84f681bf-73c2-4ebf-b1db-1b5294f645fb-Gray_horizontal_line.png">    </p:cNvPr>
          <p:cNvPicPr>
            <a:picLocks noChangeAspect="1"/>
          </p:cNvPicPr>
          <p:nvPr/>
        </p:nvPicPr>
        <p:blipFill>
          <a:blip r:embed="rId1"/>
          <a:srcRect l="0" r="0" t="49239" b="49239"/>
          <a:stretch/>
        </p:blipFill>
        <p:spPr>
          <a:xfrm>
            <a:off x="562429" y="1530048"/>
            <a:ext cx="7946571" cy="12095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2429" y="1300238"/>
            <a:ext cx="362857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24" spc="-12" kern="0" dirty="0">
                <a:solidFill>
                  <a:srgbClr val="F2F2F2"/>
                </a:solidFill>
              </a:rPr>
              <a:t>#</a:t>
            </a:r>
            <a:endParaRPr lang="en-US" sz="1524" dirty="0"/>
          </a:p>
        </p:txBody>
      </p:sp>
      <p:sp>
        <p:nvSpPr>
          <p:cNvPr id="6" name="Text 3"/>
          <p:cNvSpPr/>
          <p:nvPr/>
        </p:nvSpPr>
        <p:spPr>
          <a:xfrm>
            <a:off x="979714" y="1300238"/>
            <a:ext cx="1874762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24" spc="-12" kern="0" dirty="0">
                <a:solidFill>
                  <a:srgbClr val="F2F2F2"/>
                </a:solidFill>
              </a:rPr>
              <a:t>Test Case</a:t>
            </a:r>
            <a:endParaRPr lang="en-US" sz="1524" dirty="0"/>
          </a:p>
        </p:txBody>
      </p:sp>
      <p:sp>
        <p:nvSpPr>
          <p:cNvPr id="7" name="Text 4"/>
          <p:cNvSpPr/>
          <p:nvPr/>
        </p:nvSpPr>
        <p:spPr>
          <a:xfrm>
            <a:off x="2902857" y="1300238"/>
            <a:ext cx="1572381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24" spc="-12" kern="0" dirty="0">
                <a:solidFill>
                  <a:srgbClr val="F2F2F2"/>
                </a:solidFill>
              </a:rPr>
              <a:t>Input</a:t>
            </a:r>
            <a:endParaRPr lang="en-US" sz="1524" dirty="0"/>
          </a:p>
        </p:txBody>
      </p:sp>
      <p:sp>
        <p:nvSpPr>
          <p:cNvPr id="8" name="Text 5"/>
          <p:cNvSpPr/>
          <p:nvPr/>
        </p:nvSpPr>
        <p:spPr>
          <a:xfrm>
            <a:off x="4523619" y="1300238"/>
            <a:ext cx="3628571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24" spc="-12" kern="0" dirty="0">
                <a:solidFill>
                  <a:srgbClr val="F2F2F2"/>
                </a:solidFill>
              </a:rPr>
              <a:t>Expected Output</a:t>
            </a:r>
            <a:endParaRPr lang="en-US" sz="1524" dirty="0"/>
          </a:p>
        </p:txBody>
      </p:sp>
      <p:sp>
        <p:nvSpPr>
          <p:cNvPr id="9" name="Text 6"/>
          <p:cNvSpPr/>
          <p:nvPr/>
        </p:nvSpPr>
        <p:spPr>
          <a:xfrm>
            <a:off x="7982857" y="1300238"/>
            <a:ext cx="604762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24" spc="-12" kern="0" dirty="0">
                <a:solidFill>
                  <a:srgbClr val="F2F2F2"/>
                </a:solidFill>
              </a:rPr>
              <a:t>Result</a:t>
            </a:r>
            <a:endParaRPr lang="en-US" sz="1524" dirty="0"/>
          </a:p>
        </p:txBody>
      </p:sp>
      <p:sp>
        <p:nvSpPr>
          <p:cNvPr id="10" name="Text 7"/>
          <p:cNvSpPr/>
          <p:nvPr/>
        </p:nvSpPr>
        <p:spPr>
          <a:xfrm>
            <a:off x="574524" y="1765905"/>
            <a:ext cx="362857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01</a:t>
            </a:r>
            <a:endParaRPr lang="en-US" sz="1143" dirty="0"/>
          </a:p>
        </p:txBody>
      </p:sp>
      <p:sp>
        <p:nvSpPr>
          <p:cNvPr id="11" name="Text 8"/>
          <p:cNvSpPr/>
          <p:nvPr/>
        </p:nvSpPr>
        <p:spPr>
          <a:xfrm>
            <a:off x="991810" y="1765905"/>
            <a:ext cx="1874762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Customer login - valid</a:t>
            </a:r>
            <a:endParaRPr lang="en-US" sz="1143" dirty="0"/>
          </a:p>
        </p:txBody>
      </p:sp>
      <p:sp>
        <p:nvSpPr>
          <p:cNvPr id="12" name="Text 9"/>
          <p:cNvSpPr/>
          <p:nvPr/>
        </p:nvSpPr>
        <p:spPr>
          <a:xfrm>
            <a:off x="2914952" y="1765905"/>
            <a:ext cx="1572381" cy="34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Correct ID and password</a:t>
            </a:r>
            <a:endParaRPr lang="en-US" sz="1143" dirty="0"/>
          </a:p>
        </p:txBody>
      </p:sp>
      <p:sp>
        <p:nvSpPr>
          <p:cNvPr id="13" name="Text 10"/>
          <p:cNvSpPr/>
          <p:nvPr/>
        </p:nvSpPr>
        <p:spPr>
          <a:xfrm>
            <a:off x="4535714" y="1765905"/>
            <a:ext cx="3386667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"Welcome, Name!"</a:t>
            </a:r>
            <a:endParaRPr lang="en-US" sz="1143" dirty="0"/>
          </a:p>
        </p:txBody>
      </p:sp>
      <p:sp>
        <p:nvSpPr>
          <p:cNvPr id="14" name="Text 11"/>
          <p:cNvSpPr/>
          <p:nvPr/>
        </p:nvSpPr>
        <p:spPr>
          <a:xfrm>
            <a:off x="7994952" y="1771952"/>
            <a:ext cx="604762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3A5F35"/>
                </a:solidFill>
              </a:rPr>
              <a:t>Pass</a:t>
            </a:r>
            <a:endParaRPr lang="en-US" sz="1143" dirty="0"/>
          </a:p>
        </p:txBody>
      </p:sp>
      <p:pic>
        <p:nvPicPr>
          <p:cNvPr id="15" name="Image 1" descr="https://files.chroniclehq.com/1c501c36-f81b-4c59-a969-174d488d3f5c-Gray_dotted_horizontal_line.png">    </p:cNvPr>
          <p:cNvPicPr>
            <a:picLocks noChangeAspect="1"/>
          </p:cNvPicPr>
          <p:nvPr/>
        </p:nvPicPr>
        <p:blipFill>
          <a:blip r:embed="rId2"/>
          <a:srcRect l="0" r="0" t="49239" b="49239"/>
          <a:stretch/>
        </p:blipFill>
        <p:spPr>
          <a:xfrm>
            <a:off x="562429" y="2177143"/>
            <a:ext cx="7946571" cy="12095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74524" y="2358571"/>
            <a:ext cx="362857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02</a:t>
            </a:r>
            <a:endParaRPr lang="en-US" sz="1143" dirty="0"/>
          </a:p>
        </p:txBody>
      </p:sp>
      <p:sp>
        <p:nvSpPr>
          <p:cNvPr id="17" name="Text 13"/>
          <p:cNvSpPr/>
          <p:nvPr/>
        </p:nvSpPr>
        <p:spPr>
          <a:xfrm>
            <a:off x="991810" y="2358571"/>
            <a:ext cx="1874762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Customer login - invalid</a:t>
            </a:r>
            <a:endParaRPr lang="en-US" sz="1143" dirty="0"/>
          </a:p>
        </p:txBody>
      </p:sp>
      <p:sp>
        <p:nvSpPr>
          <p:cNvPr id="18" name="Text 14"/>
          <p:cNvSpPr/>
          <p:nvPr/>
        </p:nvSpPr>
        <p:spPr>
          <a:xfrm>
            <a:off x="2914952" y="2358571"/>
            <a:ext cx="1572381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Wrong ID or password</a:t>
            </a:r>
            <a:endParaRPr lang="en-US" sz="1143" dirty="0"/>
          </a:p>
        </p:txBody>
      </p:sp>
      <p:sp>
        <p:nvSpPr>
          <p:cNvPr id="19" name="Text 15"/>
          <p:cNvSpPr/>
          <p:nvPr/>
        </p:nvSpPr>
        <p:spPr>
          <a:xfrm>
            <a:off x="4535714" y="2358571"/>
            <a:ext cx="3386667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Invalid Customer ID or Password</a:t>
            </a:r>
            <a:endParaRPr lang="en-US" sz="1143" dirty="0"/>
          </a:p>
        </p:txBody>
      </p:sp>
      <p:sp>
        <p:nvSpPr>
          <p:cNvPr id="20" name="Text 16"/>
          <p:cNvSpPr/>
          <p:nvPr/>
        </p:nvSpPr>
        <p:spPr>
          <a:xfrm>
            <a:off x="8001000" y="2358571"/>
            <a:ext cx="604762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3A5F35"/>
                </a:solidFill>
              </a:rPr>
              <a:t>Pass</a:t>
            </a:r>
            <a:endParaRPr lang="en-US" sz="1143" dirty="0"/>
          </a:p>
        </p:txBody>
      </p:sp>
      <p:pic>
        <p:nvPicPr>
          <p:cNvPr id="21" name="Image 2" descr="https://files.chroniclehq.com/1c501c36-f81b-4c59-a969-174d488d3f5c-Gray_dotted_horizontal_line.png">    </p:cNvPr>
          <p:cNvPicPr>
            <a:picLocks noChangeAspect="1"/>
          </p:cNvPicPr>
          <p:nvPr/>
        </p:nvPicPr>
        <p:blipFill>
          <a:blip r:embed="rId3"/>
          <a:srcRect l="0" r="0" t="49239" b="49239"/>
          <a:stretch/>
        </p:blipFill>
        <p:spPr>
          <a:xfrm>
            <a:off x="574524" y="2594429"/>
            <a:ext cx="7946571" cy="12095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80571" y="2721429"/>
            <a:ext cx="362857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03</a:t>
            </a:r>
            <a:endParaRPr lang="en-US" sz="1143" dirty="0"/>
          </a:p>
        </p:txBody>
      </p:sp>
      <p:sp>
        <p:nvSpPr>
          <p:cNvPr id="23" name="Text 18"/>
          <p:cNvSpPr/>
          <p:nvPr/>
        </p:nvSpPr>
        <p:spPr>
          <a:xfrm>
            <a:off x="991810" y="2739571"/>
            <a:ext cx="1874762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Add to cart - valid product</a:t>
            </a:r>
            <a:endParaRPr lang="en-US" sz="1143" dirty="0"/>
          </a:p>
        </p:txBody>
      </p:sp>
      <p:sp>
        <p:nvSpPr>
          <p:cNvPr id="24" name="Text 19"/>
          <p:cNvSpPr/>
          <p:nvPr/>
        </p:nvSpPr>
        <p:spPr>
          <a:xfrm>
            <a:off x="2914952" y="2739571"/>
            <a:ext cx="1572381" cy="34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Correct code, qty ≤ stock</a:t>
            </a:r>
            <a:endParaRPr lang="en-US" sz="1143" dirty="0"/>
          </a:p>
        </p:txBody>
      </p:sp>
      <p:sp>
        <p:nvSpPr>
          <p:cNvPr id="25" name="Text 20"/>
          <p:cNvSpPr/>
          <p:nvPr/>
        </p:nvSpPr>
        <p:spPr>
          <a:xfrm>
            <a:off x="4535714" y="2739571"/>
            <a:ext cx="3386667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Item added to basket</a:t>
            </a:r>
            <a:endParaRPr lang="en-US" sz="1143" dirty="0"/>
          </a:p>
        </p:txBody>
      </p:sp>
      <p:sp>
        <p:nvSpPr>
          <p:cNvPr id="26" name="Text 21"/>
          <p:cNvSpPr/>
          <p:nvPr/>
        </p:nvSpPr>
        <p:spPr>
          <a:xfrm>
            <a:off x="8001000" y="2739571"/>
            <a:ext cx="604762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3A5F35"/>
                </a:solidFill>
              </a:rPr>
              <a:t>Pass</a:t>
            </a:r>
            <a:endParaRPr lang="en-US" sz="1143" dirty="0"/>
          </a:p>
        </p:txBody>
      </p:sp>
      <p:pic>
        <p:nvPicPr>
          <p:cNvPr id="27" name="Image 3" descr="https://files.chroniclehq.com/1c501c36-f81b-4c59-a969-174d488d3f5c-Gray_dotted_horizontal_line.png">    </p:cNvPr>
          <p:cNvPicPr>
            <a:picLocks noChangeAspect="1"/>
          </p:cNvPicPr>
          <p:nvPr/>
        </p:nvPicPr>
        <p:blipFill>
          <a:blip r:embed="rId4"/>
          <a:srcRect l="0" r="0" t="49239" b="49239"/>
          <a:stretch/>
        </p:blipFill>
        <p:spPr>
          <a:xfrm>
            <a:off x="556381" y="3120571"/>
            <a:ext cx="7946571" cy="120952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74524" y="3314095"/>
            <a:ext cx="362857" cy="174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04</a:t>
            </a:r>
            <a:endParaRPr lang="en-US" sz="1143" dirty="0"/>
          </a:p>
        </p:txBody>
      </p:sp>
      <p:sp>
        <p:nvSpPr>
          <p:cNvPr id="29" name="Text 23"/>
          <p:cNvSpPr/>
          <p:nvPr/>
        </p:nvSpPr>
        <p:spPr>
          <a:xfrm>
            <a:off x="991810" y="3314095"/>
            <a:ext cx="1874762" cy="34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Add to cart - insufficient stock</a:t>
            </a:r>
            <a:endParaRPr lang="en-US" sz="1143" dirty="0"/>
          </a:p>
        </p:txBody>
      </p:sp>
      <p:sp>
        <p:nvSpPr>
          <p:cNvPr id="30" name="Text 24"/>
          <p:cNvSpPr/>
          <p:nvPr/>
        </p:nvSpPr>
        <p:spPr>
          <a:xfrm>
            <a:off x="2914952" y="3314095"/>
            <a:ext cx="1572381" cy="174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qty &gt; available stock</a:t>
            </a:r>
            <a:endParaRPr lang="en-US" sz="1143" dirty="0"/>
          </a:p>
        </p:txBody>
      </p:sp>
      <p:sp>
        <p:nvSpPr>
          <p:cNvPr id="31" name="Text 25"/>
          <p:cNvSpPr/>
          <p:nvPr/>
        </p:nvSpPr>
        <p:spPr>
          <a:xfrm>
            <a:off x="4535714" y="3314095"/>
            <a:ext cx="3386667" cy="174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Insufficient stock warning</a:t>
            </a:r>
            <a:endParaRPr lang="en-US" sz="1143" dirty="0"/>
          </a:p>
        </p:txBody>
      </p:sp>
      <p:sp>
        <p:nvSpPr>
          <p:cNvPr id="32" name="Text 26"/>
          <p:cNvSpPr/>
          <p:nvPr/>
        </p:nvSpPr>
        <p:spPr>
          <a:xfrm>
            <a:off x="8001000" y="3314095"/>
            <a:ext cx="604762" cy="174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3A5F35"/>
                </a:solidFill>
              </a:rPr>
              <a:t>Pass</a:t>
            </a:r>
            <a:endParaRPr lang="en-US" sz="1143" dirty="0"/>
          </a:p>
        </p:txBody>
      </p:sp>
      <p:pic>
        <p:nvPicPr>
          <p:cNvPr id="33" name="Image 4" descr="https://files.chroniclehq.com/1c501c36-f81b-4c59-a969-174d488d3f5c-Gray_dotted_horizontal_line.png">    </p:cNvPr>
          <p:cNvPicPr>
            <a:picLocks noChangeAspect="1"/>
          </p:cNvPicPr>
          <p:nvPr/>
        </p:nvPicPr>
        <p:blipFill>
          <a:blip r:embed="rId5"/>
          <a:srcRect l="0" r="0" t="49239" b="49239"/>
          <a:stretch/>
        </p:blipFill>
        <p:spPr>
          <a:xfrm>
            <a:off x="580571" y="3713238"/>
            <a:ext cx="7946571" cy="120952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574524" y="3937000"/>
            <a:ext cx="362857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05</a:t>
            </a:r>
            <a:endParaRPr lang="en-US" sz="1143" dirty="0"/>
          </a:p>
        </p:txBody>
      </p:sp>
      <p:sp>
        <p:nvSpPr>
          <p:cNvPr id="35" name="Text 28"/>
          <p:cNvSpPr/>
          <p:nvPr/>
        </p:nvSpPr>
        <p:spPr>
          <a:xfrm>
            <a:off x="985762" y="3937000"/>
            <a:ext cx="1874762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Membership discount - valid</a:t>
            </a:r>
            <a:endParaRPr lang="en-US" sz="1143" dirty="0"/>
          </a:p>
        </p:txBody>
      </p:sp>
      <p:sp>
        <p:nvSpPr>
          <p:cNvPr id="36" name="Text 29"/>
          <p:cNvSpPr/>
          <p:nvPr/>
        </p:nvSpPr>
        <p:spPr>
          <a:xfrm>
            <a:off x="2908905" y="3937000"/>
            <a:ext cx="1572381" cy="34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Member ID with active card</a:t>
            </a:r>
            <a:endParaRPr lang="en-US" sz="1143" dirty="0"/>
          </a:p>
        </p:txBody>
      </p:sp>
      <p:sp>
        <p:nvSpPr>
          <p:cNvPr id="37" name="Text 30"/>
          <p:cNvSpPr/>
          <p:nvPr/>
        </p:nvSpPr>
        <p:spPr>
          <a:xfrm>
            <a:off x="4529667" y="3937000"/>
            <a:ext cx="3386667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Discount applied, card marked Used</a:t>
            </a:r>
            <a:endParaRPr lang="en-US" sz="1143" dirty="0"/>
          </a:p>
        </p:txBody>
      </p:sp>
      <p:sp>
        <p:nvSpPr>
          <p:cNvPr id="38" name="Text 31"/>
          <p:cNvSpPr/>
          <p:nvPr/>
        </p:nvSpPr>
        <p:spPr>
          <a:xfrm>
            <a:off x="7994952" y="3937000"/>
            <a:ext cx="604762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3A5F35"/>
                </a:solidFill>
              </a:rPr>
              <a:t>Pass</a:t>
            </a:r>
            <a:endParaRPr lang="en-US" sz="114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5190" y="1390952"/>
            <a:ext cx="362857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06</a:t>
            </a:r>
            <a:endParaRPr lang="en-US" sz="1143" dirty="0"/>
          </a:p>
        </p:txBody>
      </p:sp>
      <p:sp>
        <p:nvSpPr>
          <p:cNvPr id="3" name="Text 1"/>
          <p:cNvSpPr/>
          <p:nvPr/>
        </p:nvSpPr>
        <p:spPr>
          <a:xfrm>
            <a:off x="822476" y="1372810"/>
            <a:ext cx="1874762" cy="34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Membership discount - used card</a:t>
            </a:r>
            <a:endParaRPr lang="en-US" sz="1143" dirty="0"/>
          </a:p>
        </p:txBody>
      </p:sp>
      <p:sp>
        <p:nvSpPr>
          <p:cNvPr id="4" name="Text 2"/>
          <p:cNvSpPr/>
          <p:nvPr/>
        </p:nvSpPr>
        <p:spPr>
          <a:xfrm>
            <a:off x="2745619" y="1372810"/>
            <a:ext cx="1572381" cy="34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Member ID with used card</a:t>
            </a:r>
            <a:endParaRPr lang="en-US" sz="1143" dirty="0"/>
          </a:p>
        </p:txBody>
      </p:sp>
      <p:sp>
        <p:nvSpPr>
          <p:cNvPr id="5" name="Text 3"/>
          <p:cNvSpPr/>
          <p:nvPr/>
        </p:nvSpPr>
        <p:spPr>
          <a:xfrm>
            <a:off x="4366381" y="1372810"/>
            <a:ext cx="3386667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Card already used. No discount.</a:t>
            </a:r>
            <a:endParaRPr lang="en-US" sz="1143" dirty="0"/>
          </a:p>
        </p:txBody>
      </p:sp>
      <p:sp>
        <p:nvSpPr>
          <p:cNvPr id="6" name="Text 4"/>
          <p:cNvSpPr/>
          <p:nvPr/>
        </p:nvSpPr>
        <p:spPr>
          <a:xfrm>
            <a:off x="7747000" y="1372810"/>
            <a:ext cx="604762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3A5F35"/>
                </a:solidFill>
              </a:rPr>
              <a:t>Pass</a:t>
            </a:r>
            <a:endParaRPr lang="en-US" sz="1143" dirty="0"/>
          </a:p>
        </p:txBody>
      </p:sp>
      <p:pic>
        <p:nvPicPr>
          <p:cNvPr id="7" name="Image 0" descr="https://files.chroniclehq.com/1c501c36-f81b-4c59-a969-174d488d3f5c-Gray_dotted_horizontal_line.png">    </p:cNvPr>
          <p:cNvPicPr>
            <a:picLocks noChangeAspect="1"/>
          </p:cNvPicPr>
          <p:nvPr/>
        </p:nvPicPr>
        <p:blipFill>
          <a:blip r:embed="rId1"/>
          <a:srcRect l="0" r="0" t="49239" b="49239"/>
          <a:stretch/>
        </p:blipFill>
        <p:spPr>
          <a:xfrm>
            <a:off x="405190" y="1771952"/>
            <a:ext cx="7946571" cy="1209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05190" y="1959429"/>
            <a:ext cx="362857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07</a:t>
            </a:r>
            <a:endParaRPr lang="en-US" sz="1143" dirty="0"/>
          </a:p>
        </p:txBody>
      </p:sp>
      <p:sp>
        <p:nvSpPr>
          <p:cNvPr id="9" name="Text 6"/>
          <p:cNvSpPr/>
          <p:nvPr/>
        </p:nvSpPr>
        <p:spPr>
          <a:xfrm>
            <a:off x="822476" y="1941286"/>
            <a:ext cx="1874762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Cash payment - sufficient</a:t>
            </a:r>
            <a:endParaRPr lang="en-US" sz="1143" dirty="0"/>
          </a:p>
        </p:txBody>
      </p:sp>
      <p:sp>
        <p:nvSpPr>
          <p:cNvPr id="10" name="Text 7"/>
          <p:cNvSpPr/>
          <p:nvPr/>
        </p:nvSpPr>
        <p:spPr>
          <a:xfrm>
            <a:off x="2745619" y="1941286"/>
            <a:ext cx="1572381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Amount ≥ payable</a:t>
            </a:r>
            <a:endParaRPr lang="en-US" sz="1143" dirty="0"/>
          </a:p>
        </p:txBody>
      </p:sp>
      <p:sp>
        <p:nvSpPr>
          <p:cNvPr id="11" name="Text 8"/>
          <p:cNvSpPr/>
          <p:nvPr/>
        </p:nvSpPr>
        <p:spPr>
          <a:xfrm>
            <a:off x="4366381" y="1941286"/>
            <a:ext cx="3386667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Change returned, bill printed</a:t>
            </a:r>
            <a:endParaRPr lang="en-US" sz="1143" dirty="0"/>
          </a:p>
        </p:txBody>
      </p:sp>
      <p:sp>
        <p:nvSpPr>
          <p:cNvPr id="12" name="Text 9"/>
          <p:cNvSpPr/>
          <p:nvPr/>
        </p:nvSpPr>
        <p:spPr>
          <a:xfrm>
            <a:off x="7747000" y="1935238"/>
            <a:ext cx="604762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3A5F35"/>
                </a:solidFill>
              </a:rPr>
              <a:t>Pass</a:t>
            </a:r>
            <a:endParaRPr lang="en-US" sz="1143" dirty="0"/>
          </a:p>
        </p:txBody>
      </p:sp>
      <p:pic>
        <p:nvPicPr>
          <p:cNvPr id="13" name="Image 1" descr="https://files.chroniclehq.com/1c501c36-f81b-4c59-a969-174d488d3f5c-Gray_dotted_horizontal_line.png">    </p:cNvPr>
          <p:cNvPicPr>
            <a:picLocks noChangeAspect="1"/>
          </p:cNvPicPr>
          <p:nvPr/>
        </p:nvPicPr>
        <p:blipFill>
          <a:blip r:embed="rId2"/>
          <a:srcRect l="0" r="0" t="49239" b="49239"/>
          <a:stretch/>
        </p:blipFill>
        <p:spPr>
          <a:xfrm>
            <a:off x="405190" y="2159000"/>
            <a:ext cx="7946571" cy="12095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05190" y="2292048"/>
            <a:ext cx="362857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08</a:t>
            </a:r>
            <a:endParaRPr lang="en-US" sz="1143" dirty="0"/>
          </a:p>
        </p:txBody>
      </p:sp>
      <p:sp>
        <p:nvSpPr>
          <p:cNvPr id="15" name="Text 11"/>
          <p:cNvSpPr/>
          <p:nvPr/>
        </p:nvSpPr>
        <p:spPr>
          <a:xfrm>
            <a:off x="822476" y="2273905"/>
            <a:ext cx="1874762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Cash payment - insufficient</a:t>
            </a:r>
            <a:endParaRPr lang="en-US" sz="1143" dirty="0"/>
          </a:p>
        </p:txBody>
      </p:sp>
      <p:sp>
        <p:nvSpPr>
          <p:cNvPr id="16" name="Text 12"/>
          <p:cNvSpPr/>
          <p:nvPr/>
        </p:nvSpPr>
        <p:spPr>
          <a:xfrm>
            <a:off x="2745619" y="2273905"/>
            <a:ext cx="1572381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Amount &lt; payable</a:t>
            </a:r>
            <a:endParaRPr lang="en-US" sz="1143" dirty="0"/>
          </a:p>
        </p:txBody>
      </p:sp>
      <p:sp>
        <p:nvSpPr>
          <p:cNvPr id="17" name="Text 13"/>
          <p:cNvSpPr/>
          <p:nvPr/>
        </p:nvSpPr>
        <p:spPr>
          <a:xfrm>
            <a:off x="4366381" y="2273905"/>
            <a:ext cx="3386667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Need X more prompt</a:t>
            </a:r>
            <a:endParaRPr lang="en-US" sz="1143" dirty="0"/>
          </a:p>
        </p:txBody>
      </p:sp>
      <p:sp>
        <p:nvSpPr>
          <p:cNvPr id="18" name="Text 14"/>
          <p:cNvSpPr/>
          <p:nvPr/>
        </p:nvSpPr>
        <p:spPr>
          <a:xfrm>
            <a:off x="7747000" y="2267857"/>
            <a:ext cx="604762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3A5F35"/>
                </a:solidFill>
              </a:rPr>
              <a:t>Pass</a:t>
            </a:r>
            <a:endParaRPr lang="en-US" sz="1143" dirty="0"/>
          </a:p>
        </p:txBody>
      </p:sp>
      <p:pic>
        <p:nvPicPr>
          <p:cNvPr id="19" name="Image 2" descr="https://files.chroniclehq.com/1c501c36-f81b-4c59-a969-174d488d3f5c-Gray_dotted_horizontal_line.png">    </p:cNvPr>
          <p:cNvPicPr>
            <a:picLocks noChangeAspect="1"/>
          </p:cNvPicPr>
          <p:nvPr/>
        </p:nvPicPr>
        <p:blipFill>
          <a:blip r:embed="rId3"/>
          <a:srcRect l="0" r="0" t="49239" b="49239"/>
          <a:stretch/>
        </p:blipFill>
        <p:spPr>
          <a:xfrm>
            <a:off x="405190" y="2491619"/>
            <a:ext cx="7946571" cy="12095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05190" y="2624667"/>
            <a:ext cx="362857" cy="174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09</a:t>
            </a:r>
            <a:endParaRPr lang="en-US" sz="1143" dirty="0"/>
          </a:p>
        </p:txBody>
      </p:sp>
      <p:sp>
        <p:nvSpPr>
          <p:cNvPr id="21" name="Text 16"/>
          <p:cNvSpPr/>
          <p:nvPr/>
        </p:nvSpPr>
        <p:spPr>
          <a:xfrm>
            <a:off x="822476" y="2606524"/>
            <a:ext cx="1874762" cy="174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QR Code payment</a:t>
            </a:r>
            <a:endParaRPr lang="en-US" sz="1143" dirty="0"/>
          </a:p>
        </p:txBody>
      </p:sp>
      <p:sp>
        <p:nvSpPr>
          <p:cNvPr id="22" name="Text 17"/>
          <p:cNvSpPr/>
          <p:nvPr/>
        </p:nvSpPr>
        <p:spPr>
          <a:xfrm>
            <a:off x="2745619" y="2606524"/>
            <a:ext cx="1572381" cy="174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Select QR option</a:t>
            </a:r>
            <a:endParaRPr lang="en-US" sz="1143" dirty="0"/>
          </a:p>
        </p:txBody>
      </p:sp>
      <p:sp>
        <p:nvSpPr>
          <p:cNvPr id="23" name="Text 18"/>
          <p:cNvSpPr/>
          <p:nvPr/>
        </p:nvSpPr>
        <p:spPr>
          <a:xfrm>
            <a:off x="4366381" y="2606524"/>
            <a:ext cx="3386667" cy="174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QR displayed, Transaction ID generated</a:t>
            </a:r>
            <a:endParaRPr lang="en-US" sz="1143" dirty="0"/>
          </a:p>
        </p:txBody>
      </p:sp>
      <p:sp>
        <p:nvSpPr>
          <p:cNvPr id="24" name="Text 19"/>
          <p:cNvSpPr/>
          <p:nvPr/>
        </p:nvSpPr>
        <p:spPr>
          <a:xfrm>
            <a:off x="7747000" y="2600476"/>
            <a:ext cx="604762" cy="174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3A5F35"/>
                </a:solidFill>
              </a:rPr>
              <a:t>Pass</a:t>
            </a:r>
            <a:endParaRPr lang="en-US" sz="1143" dirty="0"/>
          </a:p>
        </p:txBody>
      </p:sp>
      <p:pic>
        <p:nvPicPr>
          <p:cNvPr id="25" name="Image 3" descr="https://files.chroniclehq.com/1c501c36-f81b-4c59-a969-174d488d3f5c-Gray_dotted_horizontal_line.png">    </p:cNvPr>
          <p:cNvPicPr>
            <a:picLocks noChangeAspect="1"/>
          </p:cNvPicPr>
          <p:nvPr/>
        </p:nvPicPr>
        <p:blipFill>
          <a:blip r:embed="rId4"/>
          <a:srcRect l="0" r="0" t="49239" b="49239"/>
          <a:stretch/>
        </p:blipFill>
        <p:spPr>
          <a:xfrm>
            <a:off x="405190" y="2824238"/>
            <a:ext cx="7946571" cy="12095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05190" y="2957286"/>
            <a:ext cx="362857" cy="174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10</a:t>
            </a:r>
            <a:endParaRPr lang="en-US" sz="1143" dirty="0"/>
          </a:p>
        </p:txBody>
      </p:sp>
      <p:sp>
        <p:nvSpPr>
          <p:cNvPr id="27" name="Text 21"/>
          <p:cNvSpPr/>
          <p:nvPr/>
        </p:nvSpPr>
        <p:spPr>
          <a:xfrm>
            <a:off x="822476" y="2939143"/>
            <a:ext cx="1874762" cy="174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Admin delete product - valid</a:t>
            </a:r>
            <a:endParaRPr lang="en-US" sz="1143" dirty="0"/>
          </a:p>
        </p:txBody>
      </p:sp>
      <p:sp>
        <p:nvSpPr>
          <p:cNvPr id="28" name="Text 22"/>
          <p:cNvSpPr/>
          <p:nvPr/>
        </p:nvSpPr>
        <p:spPr>
          <a:xfrm>
            <a:off x="2745619" y="2939143"/>
            <a:ext cx="1572381" cy="174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Valid product code</a:t>
            </a:r>
            <a:endParaRPr lang="en-US" sz="1143" dirty="0"/>
          </a:p>
        </p:txBody>
      </p:sp>
      <p:sp>
        <p:nvSpPr>
          <p:cNvPr id="29" name="Text 23"/>
          <p:cNvSpPr/>
          <p:nvPr/>
        </p:nvSpPr>
        <p:spPr>
          <a:xfrm>
            <a:off x="4366381" y="2939143"/>
            <a:ext cx="3386667" cy="174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Product deleted successfully</a:t>
            </a:r>
            <a:endParaRPr lang="en-US" sz="1143" dirty="0"/>
          </a:p>
        </p:txBody>
      </p:sp>
      <p:sp>
        <p:nvSpPr>
          <p:cNvPr id="30" name="Text 24"/>
          <p:cNvSpPr/>
          <p:nvPr/>
        </p:nvSpPr>
        <p:spPr>
          <a:xfrm>
            <a:off x="7747000" y="2933095"/>
            <a:ext cx="604762" cy="174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3A5F35"/>
                </a:solidFill>
              </a:rPr>
              <a:t>Pass</a:t>
            </a:r>
            <a:endParaRPr lang="en-US" sz="1143" dirty="0"/>
          </a:p>
        </p:txBody>
      </p:sp>
      <p:pic>
        <p:nvPicPr>
          <p:cNvPr id="31" name="Image 4" descr="https://files.chroniclehq.com/1c501c36-f81b-4c59-a969-174d488d3f5c-Gray_dotted_horizontal_line.png">    </p:cNvPr>
          <p:cNvPicPr>
            <a:picLocks noChangeAspect="1"/>
          </p:cNvPicPr>
          <p:nvPr/>
        </p:nvPicPr>
        <p:blipFill>
          <a:blip r:embed="rId5"/>
          <a:srcRect l="0" r="0" t="49239" b="49239"/>
          <a:stretch/>
        </p:blipFill>
        <p:spPr>
          <a:xfrm>
            <a:off x="405190" y="3156857"/>
            <a:ext cx="7946571" cy="12095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405190" y="3289905"/>
            <a:ext cx="362857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11</a:t>
            </a:r>
            <a:endParaRPr lang="en-US" sz="1143" dirty="0"/>
          </a:p>
        </p:txBody>
      </p:sp>
      <p:sp>
        <p:nvSpPr>
          <p:cNvPr id="33" name="Text 26"/>
          <p:cNvSpPr/>
          <p:nvPr/>
        </p:nvSpPr>
        <p:spPr>
          <a:xfrm>
            <a:off x="822476" y="3271762"/>
            <a:ext cx="1874762" cy="34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Admin delete product - invalid</a:t>
            </a:r>
            <a:endParaRPr lang="en-US" sz="1143" dirty="0"/>
          </a:p>
        </p:txBody>
      </p:sp>
      <p:sp>
        <p:nvSpPr>
          <p:cNvPr id="34" name="Text 27"/>
          <p:cNvSpPr/>
          <p:nvPr/>
        </p:nvSpPr>
        <p:spPr>
          <a:xfrm>
            <a:off x="2745619" y="3271762"/>
            <a:ext cx="1572381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Invalid product code</a:t>
            </a:r>
            <a:endParaRPr lang="en-US" sz="1143" dirty="0"/>
          </a:p>
        </p:txBody>
      </p:sp>
      <p:sp>
        <p:nvSpPr>
          <p:cNvPr id="35" name="Text 28"/>
          <p:cNvSpPr/>
          <p:nvPr/>
        </p:nvSpPr>
        <p:spPr>
          <a:xfrm>
            <a:off x="4366381" y="3271762"/>
            <a:ext cx="3386667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Product code not found</a:t>
            </a:r>
            <a:endParaRPr lang="en-US" sz="1143" dirty="0"/>
          </a:p>
        </p:txBody>
      </p:sp>
      <p:sp>
        <p:nvSpPr>
          <p:cNvPr id="36" name="Text 29"/>
          <p:cNvSpPr/>
          <p:nvPr/>
        </p:nvSpPr>
        <p:spPr>
          <a:xfrm>
            <a:off x="7747000" y="3265714"/>
            <a:ext cx="604762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3A5F35"/>
                </a:solidFill>
              </a:rPr>
              <a:t>Pass</a:t>
            </a:r>
            <a:endParaRPr lang="en-US" sz="1143" dirty="0"/>
          </a:p>
        </p:txBody>
      </p:sp>
      <p:pic>
        <p:nvPicPr>
          <p:cNvPr id="37" name="Image 5" descr="https://files.chroniclehq.com/1c501c36-f81b-4c59-a969-174d488d3f5c-Gray_dotted_horizontal_line.png">    </p:cNvPr>
          <p:cNvPicPr>
            <a:picLocks noChangeAspect="1"/>
          </p:cNvPicPr>
          <p:nvPr/>
        </p:nvPicPr>
        <p:blipFill>
          <a:blip r:embed="rId6"/>
          <a:srcRect l="0" r="0" t="49239" b="49239"/>
          <a:stretch/>
        </p:blipFill>
        <p:spPr>
          <a:xfrm>
            <a:off x="405190" y="3634619"/>
            <a:ext cx="7946571" cy="12095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405190" y="3828143"/>
            <a:ext cx="362857" cy="174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12</a:t>
            </a:r>
            <a:endParaRPr lang="en-US" sz="1143" dirty="0"/>
          </a:p>
        </p:txBody>
      </p:sp>
      <p:sp>
        <p:nvSpPr>
          <p:cNvPr id="39" name="Text 31"/>
          <p:cNvSpPr/>
          <p:nvPr/>
        </p:nvSpPr>
        <p:spPr>
          <a:xfrm>
            <a:off x="822476" y="3810000"/>
            <a:ext cx="1874762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Sales summary report</a:t>
            </a:r>
            <a:endParaRPr lang="en-US" sz="1143" dirty="0"/>
          </a:p>
        </p:txBody>
      </p:sp>
      <p:sp>
        <p:nvSpPr>
          <p:cNvPr id="40" name="Text 32"/>
          <p:cNvSpPr/>
          <p:nvPr/>
        </p:nvSpPr>
        <p:spPr>
          <a:xfrm>
            <a:off x="2745619" y="3810000"/>
            <a:ext cx="1572381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After 2 transactions</a:t>
            </a:r>
            <a:endParaRPr lang="en-US" sz="1143" dirty="0"/>
          </a:p>
        </p:txBody>
      </p:sp>
      <p:sp>
        <p:nvSpPr>
          <p:cNvPr id="41" name="Text 33"/>
          <p:cNvSpPr/>
          <p:nvPr/>
        </p:nvSpPr>
        <p:spPr>
          <a:xfrm>
            <a:off x="4366381" y="3810000"/>
            <a:ext cx="3386667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97948C"/>
                </a:solidFill>
              </a:rPr>
              <a:t>Correct bills, revenue, discounts shown</a:t>
            </a:r>
            <a:endParaRPr lang="en-US" sz="1143" dirty="0"/>
          </a:p>
        </p:txBody>
      </p:sp>
      <p:sp>
        <p:nvSpPr>
          <p:cNvPr id="42" name="Text 34"/>
          <p:cNvSpPr/>
          <p:nvPr/>
        </p:nvSpPr>
        <p:spPr>
          <a:xfrm>
            <a:off x="7747000" y="3803952"/>
            <a:ext cx="604762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3A5F35"/>
                </a:solidFill>
              </a:rPr>
              <a:t>Pass</a:t>
            </a:r>
            <a:endParaRPr lang="en-US" sz="1143" dirty="0"/>
          </a:p>
        </p:txBody>
      </p:sp>
      <p:sp>
        <p:nvSpPr>
          <p:cNvPr id="43" name="Text 35"/>
          <p:cNvSpPr/>
          <p:nvPr/>
        </p:nvSpPr>
        <p:spPr>
          <a:xfrm>
            <a:off x="7747000" y="889000"/>
            <a:ext cx="604762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24" spc="-12" kern="0" dirty="0">
                <a:solidFill>
                  <a:srgbClr val="F2F2F2"/>
                </a:solidFill>
              </a:rPr>
              <a:t>Result</a:t>
            </a:r>
            <a:endParaRPr lang="en-US" sz="1524" dirty="0"/>
          </a:p>
        </p:txBody>
      </p:sp>
      <p:sp>
        <p:nvSpPr>
          <p:cNvPr id="44" name="Text 36"/>
          <p:cNvSpPr/>
          <p:nvPr/>
        </p:nvSpPr>
        <p:spPr>
          <a:xfrm>
            <a:off x="4366381" y="889000"/>
            <a:ext cx="3628571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24" spc="-12" kern="0" dirty="0">
                <a:solidFill>
                  <a:srgbClr val="F2F2F2"/>
                </a:solidFill>
              </a:rPr>
              <a:t>Expected Output</a:t>
            </a:r>
            <a:endParaRPr lang="en-US" sz="1524" dirty="0"/>
          </a:p>
        </p:txBody>
      </p:sp>
      <p:sp>
        <p:nvSpPr>
          <p:cNvPr id="45" name="Text 37"/>
          <p:cNvSpPr/>
          <p:nvPr/>
        </p:nvSpPr>
        <p:spPr>
          <a:xfrm>
            <a:off x="2745619" y="889000"/>
            <a:ext cx="1572381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24" spc="-12" kern="0" dirty="0">
                <a:solidFill>
                  <a:srgbClr val="F2F2F2"/>
                </a:solidFill>
              </a:rPr>
              <a:t>Input</a:t>
            </a:r>
            <a:endParaRPr lang="en-US" sz="1524" dirty="0"/>
          </a:p>
        </p:txBody>
      </p:sp>
      <p:sp>
        <p:nvSpPr>
          <p:cNvPr id="46" name="Text 38"/>
          <p:cNvSpPr/>
          <p:nvPr/>
        </p:nvSpPr>
        <p:spPr>
          <a:xfrm>
            <a:off x="822476" y="889000"/>
            <a:ext cx="1874762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24" spc="-12" kern="0" dirty="0">
                <a:solidFill>
                  <a:srgbClr val="F2F2F2"/>
                </a:solidFill>
              </a:rPr>
              <a:t>Test Case</a:t>
            </a:r>
            <a:endParaRPr lang="en-US" sz="1524" dirty="0"/>
          </a:p>
        </p:txBody>
      </p:sp>
      <p:sp>
        <p:nvSpPr>
          <p:cNvPr id="47" name="Text 39"/>
          <p:cNvSpPr/>
          <p:nvPr/>
        </p:nvSpPr>
        <p:spPr>
          <a:xfrm>
            <a:off x="405190" y="889000"/>
            <a:ext cx="362857" cy="232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524" spc="-12" kern="0" dirty="0">
                <a:solidFill>
                  <a:srgbClr val="F2F2F2"/>
                </a:solidFill>
              </a:rPr>
              <a:t>#</a:t>
            </a:r>
            <a:endParaRPr lang="en-US" sz="1524" dirty="0"/>
          </a:p>
        </p:txBody>
      </p:sp>
      <p:pic>
        <p:nvPicPr>
          <p:cNvPr id="48" name="Image 6" descr="https://files.chroniclehq.com/84f681bf-73c2-4ebf-b1db-1b5294f645fb-Gray_horizontal_line.png">    </p:cNvPr>
          <p:cNvPicPr>
            <a:picLocks noChangeAspect="1"/>
          </p:cNvPicPr>
          <p:nvPr/>
        </p:nvPicPr>
        <p:blipFill>
          <a:blip r:embed="rId7"/>
          <a:srcRect l="0" r="0" t="49239" b="49239"/>
          <a:stretch/>
        </p:blipFill>
        <p:spPr>
          <a:xfrm>
            <a:off x="405190" y="1112762"/>
            <a:ext cx="7946571" cy="1209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050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files.chroniclehq.com/chapter-background-v2/raw/v3-grid-42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8000" y="387048"/>
            <a:ext cx="3592286" cy="96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10" dirty="0">
                <a:solidFill>
                  <a:srgbClr val="F2F2F2"/>
                </a:solidFill>
              </a:rPr>
              <a:t>Refer-</a:t>
            </a:r>
            <a:br/>
            <a:pPr algn="l" indent="0" marL="0">
              <a:lnSpc>
                <a:spcPct val="100000"/>
              </a:lnSpc>
              <a:buNone/>
            </a:pPr>
            <a:r>
              <a:rPr lang="en-US" sz="3810" dirty="0">
                <a:solidFill>
                  <a:srgbClr val="000000"/>
                </a:solidFill>
              </a:rPr>
              <a:t>​</a:t>
            </a:r>
            <a:pPr algn="l" indent="0" marL="0">
              <a:lnSpc>
                <a:spcPct val="100000"/>
              </a:lnSpc>
              <a:buNone/>
            </a:pPr>
            <a:r>
              <a:rPr lang="en-US" sz="3810" dirty="0">
                <a:solidFill>
                  <a:srgbClr val="F2F2F2"/>
                </a:solidFill>
              </a:rPr>
              <a:t>ences</a:t>
            </a:r>
            <a:endParaRPr lang="en-US" sz="3810" dirty="0"/>
          </a:p>
        </p:txBody>
      </p:sp>
      <p:sp>
        <p:nvSpPr>
          <p:cNvPr id="4" name="Text 1"/>
          <p:cNvSpPr/>
          <p:nvPr/>
        </p:nvSpPr>
        <p:spPr>
          <a:xfrm>
            <a:off x="4894130" y="297990"/>
            <a:ext cx="3894667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Books</a:t>
            </a:r>
            <a:endParaRPr lang="en-US" sz="1143" dirty="0"/>
          </a:p>
        </p:txBody>
      </p:sp>
      <p:sp>
        <p:nvSpPr>
          <p:cNvPr id="5" name="Text 2"/>
          <p:cNvSpPr/>
          <p:nvPr/>
        </p:nvSpPr>
        <p:spPr>
          <a:xfrm>
            <a:off x="4892524" y="568476"/>
            <a:ext cx="3676952" cy="435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2" dirty="0">
                <a:solidFill>
                  <a:srgbClr val="B8B8B8"/>
                </a:solidFill>
              </a:rPr>
              <a:t>Kernighan &amp; Ritchie</a:t>
            </a:r>
            <a:pPr algn="l" indent="0" marL="0">
              <a:lnSpc>
                <a:spcPct val="100000"/>
              </a:lnSpc>
              <a:buNone/>
            </a:pPr>
            <a:r>
              <a:rPr lang="en-US" sz="952" dirty="0">
                <a:solidFill>
                  <a:srgbClr val="B8B8B8">
                    <a:alpha val="56000"/>
                  </a:srgbClr>
                </a:solidFill>
              </a:rPr>
              <a:t> — The C Programming Language, 2nd Ed., Prentice Hall</a:t>
            </a:r>
            <a:br/>
            <a:pPr algn="l" indent="0" marL="0">
              <a:lnSpc>
                <a:spcPct val="100000"/>
              </a:lnSpc>
              <a:buNone/>
            </a:pPr>
            <a:r>
              <a:rPr lang="en-US" sz="952" dirty="0">
                <a:solidFill>
                  <a:srgbClr val="000000"/>
                </a:solidFill>
              </a:rPr>
              <a:t>​</a:t>
            </a:r>
            <a:pPr algn="l" indent="0" marL="0">
              <a:lnSpc>
                <a:spcPct val="100000"/>
              </a:lnSpc>
              <a:buNone/>
            </a:pPr>
            <a:r>
              <a:rPr lang="en-US" sz="952" dirty="0">
                <a:solidFill>
                  <a:srgbClr val="B8B8B8"/>
                </a:solidFill>
              </a:rPr>
              <a:t>Reema Thareja</a:t>
            </a:r>
            <a:pPr algn="l" indent="0" marL="0">
              <a:lnSpc>
                <a:spcPct val="100000"/>
              </a:lnSpc>
              <a:buNone/>
            </a:pPr>
            <a:r>
              <a:rPr lang="en-US" sz="952" dirty="0">
                <a:solidFill>
                  <a:srgbClr val="B8B8B8">
                    <a:alpha val="56000"/>
                  </a:srgbClr>
                </a:solidFill>
              </a:rPr>
              <a:t> — Data Structures Using C, Oxford University Press</a:t>
            </a:r>
            <a:endParaRPr lang="en-US" sz="952" dirty="0"/>
          </a:p>
        </p:txBody>
      </p:sp>
      <p:sp>
        <p:nvSpPr>
          <p:cNvPr id="6" name="Text 3"/>
          <p:cNvSpPr/>
          <p:nvPr/>
        </p:nvSpPr>
        <p:spPr>
          <a:xfrm>
            <a:off x="4894130" y="1962491"/>
            <a:ext cx="3894667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Online resources</a:t>
            </a:r>
            <a:endParaRPr lang="en-US" sz="1143" dirty="0"/>
          </a:p>
        </p:txBody>
      </p:sp>
      <p:sp>
        <p:nvSpPr>
          <p:cNvPr id="7" name="Text 4"/>
          <p:cNvSpPr/>
          <p:nvPr/>
        </p:nvSpPr>
        <p:spPr>
          <a:xfrm>
            <a:off x="4892524" y="2322286"/>
            <a:ext cx="3676952" cy="580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2" dirty="0">
                <a:solidFill>
                  <a:srgbClr val="B8B8B8"/>
                </a:solidFill>
              </a:rPr>
              <a:t>Microsoft Docs</a:t>
            </a:r>
            <a:pPr algn="l" indent="0" marL="0">
              <a:lnSpc>
                <a:spcPct val="100000"/>
              </a:lnSpc>
              <a:buNone/>
            </a:pPr>
            <a:r>
              <a:rPr lang="en-US" sz="952" dirty="0">
                <a:solidFill>
                  <a:srgbClr val="B8B8B8">
                    <a:alpha val="56000"/>
                  </a:srgbClr>
                </a:solidFill>
              </a:rPr>
              <a:t> — Windows Console API and SetConsoleOutputCP documentation</a:t>
            </a:r>
            <a:br/>
            <a:pPr algn="l" indent="0" marL="0">
              <a:lnSpc>
                <a:spcPct val="100000"/>
              </a:lnSpc>
              <a:buNone/>
            </a:pPr>
            <a:r>
              <a:rPr lang="en-US" sz="952" dirty="0">
                <a:solidFill>
                  <a:srgbClr val="000000"/>
                </a:solidFill>
              </a:rPr>
              <a:t>​</a:t>
            </a:r>
            <a:pPr algn="l" indent="0" marL="0">
              <a:lnSpc>
                <a:spcPct val="100000"/>
              </a:lnSpc>
              <a:buNone/>
            </a:pPr>
            <a:r>
              <a:rPr lang="en-US" sz="952" dirty="0">
                <a:solidFill>
                  <a:srgbClr val="B8B8B8"/>
                </a:solidFill>
              </a:rPr>
              <a:t>GeeksforGeeks</a:t>
            </a:r>
            <a:pPr algn="l" indent="0" marL="0">
              <a:lnSpc>
                <a:spcPct val="100000"/>
              </a:lnSpc>
              <a:buNone/>
            </a:pPr>
            <a:r>
              <a:rPr lang="en-US" sz="952" dirty="0">
                <a:solidFill>
                  <a:srgbClr val="B8B8B8">
                    <a:alpha val="56000"/>
                  </a:srgbClr>
                </a:solidFill>
              </a:rPr>
              <a:t> — C structs, string operations, and menu-driven programs (geeksforgeeks.org)</a:t>
            </a:r>
            <a:endParaRPr lang="en-US" sz="952" dirty="0"/>
          </a:p>
        </p:txBody>
      </p:sp>
      <p:sp>
        <p:nvSpPr>
          <p:cNvPr id="8" name="Text 5"/>
          <p:cNvSpPr/>
          <p:nvPr/>
        </p:nvSpPr>
        <p:spPr>
          <a:xfrm>
            <a:off x="4894130" y="3703238"/>
            <a:ext cx="3894667" cy="174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43" dirty="0">
                <a:solidFill>
                  <a:srgbClr val="B8B8B8"/>
                </a:solidFill>
              </a:rPr>
              <a:t>Lectures</a:t>
            </a:r>
            <a:endParaRPr lang="en-US" sz="1143" dirty="0"/>
          </a:p>
        </p:txBody>
      </p:sp>
      <p:sp>
        <p:nvSpPr>
          <p:cNvPr id="9" name="Text 6"/>
          <p:cNvSpPr/>
          <p:nvPr/>
        </p:nvSpPr>
        <p:spPr>
          <a:xfrm>
            <a:off x="4892524" y="3997476"/>
            <a:ext cx="3676952" cy="1451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2" dirty="0">
                <a:solidFill>
                  <a:srgbClr val="B8B8B8"/>
                </a:solidFill>
              </a:rPr>
              <a:t>NPTEL</a:t>
            </a:r>
            <a:pPr algn="l" indent="0" marL="0">
              <a:lnSpc>
                <a:spcPct val="100000"/>
              </a:lnSpc>
              <a:buNone/>
            </a:pPr>
            <a:r>
              <a:rPr lang="en-US" sz="952" dirty="0">
                <a:solidFill>
                  <a:srgbClr val="B8B8B8">
                    <a:alpha val="56000"/>
                  </a:srgbClr>
                </a:solidFill>
              </a:rPr>
              <a:t> — Programming in C, IIT Bombay</a:t>
            </a:r>
            <a:endParaRPr lang="en-US" sz="952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files.chroniclehq.com/00f73263-f4dd-4ac4-b041-92817a4cecb1-emmi.txt_httpss.mj.run4iCw6QA0GNA_httpss.mj.runOnUTxpO_Wp0_http_a5e8bf8b_342f_4478_b8e7_86f225ab0561.png">    </p:cNvPr>
          <p:cNvPicPr>
            <a:picLocks noChangeAspect="1"/>
          </p:cNvPicPr>
          <p:nvPr/>
        </p:nvPicPr>
        <p:blipFill>
          <a:blip r:embed="rId1"/>
          <a:srcRect l="0" r="0" t="27558" b="27558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https://files.chroniclehq.com/chapter-background-v2/raw/v3-grid-33-dar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254000" y="3888619"/>
            <a:ext cx="4771571" cy="725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714" dirty="0">
                <a:solidFill>
                  <a:srgbClr val="F2F2F2"/>
                </a:solidFill>
              </a:rPr>
              <a:t>Thank You</a:t>
            </a:r>
            <a:endParaRPr lang="en-US" sz="5714" dirty="0"/>
          </a:p>
        </p:txBody>
      </p:sp>
      <p:sp>
        <p:nvSpPr>
          <p:cNvPr id="5" name="Text 1"/>
          <p:cNvSpPr/>
          <p:nvPr/>
        </p:nvSpPr>
        <p:spPr>
          <a:xfrm>
            <a:off x="5025571" y="4148667"/>
            <a:ext cx="3834190" cy="465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90000"/>
              </a:lnSpc>
              <a:buNone/>
            </a:pPr>
            <a:r>
              <a:rPr lang="en-US" sz="1524" spc="-12" kern="0" dirty="0">
                <a:solidFill>
                  <a:srgbClr val="F2F2F2"/>
                </a:solidFill>
              </a:rPr>
              <a:t>AYH MART</a:t>
            </a:r>
            <a:pPr algn="r" indent="0" marL="0">
              <a:lnSpc>
                <a:spcPct val="90000"/>
              </a:lnSpc>
              <a:buNone/>
            </a:pPr>
            <a:endParaRPr lang="en-US" sz="1524" dirty="0"/>
          </a:p>
          <a:p>
            <a:pPr algn="r" indent="0" marL="0">
              <a:lnSpc>
                <a:spcPct val="90000"/>
              </a:lnSpc>
              <a:buNone/>
            </a:pPr>
            <a:r>
              <a:rPr lang="en-US" sz="1524" spc="-12" kern="0" dirty="0">
                <a:solidFill>
                  <a:srgbClr val="F2F2F2">
                    <a:alpha val="56000"/>
                  </a:srgbClr>
                </a:solidFill>
              </a:rPr>
              <a:t>Self Checkout System</a:t>
            </a:r>
            <a:endParaRPr lang="en-US" sz="1524" dirty="0"/>
          </a:p>
        </p:txBody>
      </p:sp>
      <p:sp>
        <p:nvSpPr>
          <p:cNvPr id="6" name="Text 2"/>
          <p:cNvSpPr/>
          <p:nvPr/>
        </p:nvSpPr>
        <p:spPr>
          <a:xfrm>
            <a:off x="241905" y="4880429"/>
            <a:ext cx="8678333" cy="1088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762" i="1" dirty="0">
                <a:solidFill>
                  <a:srgbClr val="B8B8B8"/>
                </a:solidFill>
              </a:rPr>
              <a:t>AYH MART - Self Checkout System Presentation</a:t>
            </a:r>
            <a:endParaRPr lang="en-US" sz="762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2026-03-11T13:15:57Z</dcterms:created>
  <dcterms:modified xsi:type="dcterms:W3CDTF">2026-03-11T13:15:57Z</dcterms:modified>
</cp:coreProperties>
</file>