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97" r:id="rId26"/>
    <p:sldId id="282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83" r:id="rId39"/>
    <p:sldId id="284" r:id="rId4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>
      <p:cViewPr varScale="1">
        <p:scale>
          <a:sx n="126" d="100"/>
          <a:sy n="126" d="100"/>
        </p:scale>
        <p:origin x="8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2503170"/>
            <a:ext cx="6480048" cy="172593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158609"/>
            <a:ext cx="6480048" cy="131445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87878"/>
            <a:ext cx="6629400" cy="1369772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864350"/>
            <a:ext cx="6629400" cy="800016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114800"/>
            <a:ext cx="4040188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4114800"/>
            <a:ext cx="4041775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137685"/>
            <a:ext cx="4040188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137685"/>
            <a:ext cx="4041775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7470648" cy="85725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9146"/>
            <a:ext cx="3200400" cy="547688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60818"/>
            <a:ext cx="2743200" cy="6858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70866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4816548"/>
            <a:ext cx="7620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279282"/>
            <a:ext cx="3053868" cy="940356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249074"/>
            <a:ext cx="3053866" cy="199761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816548"/>
            <a:ext cx="2133600" cy="273844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7467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4816548"/>
            <a:ext cx="2133600" cy="273844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4816548"/>
            <a:ext cx="2895600" cy="273844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4816548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frugal.com/retail/?ref=common-header" TargetMode="External"/><Relationship Id="rId7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hyperlink" Target="https://www.zoho.com/in/inventory/features/" TargetMode="Externa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91;p1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0" y="0"/>
            <a:ext cx="190500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93;p1"/>
          <p:cNvSpPr txBox="1"/>
          <p:nvPr/>
        </p:nvSpPr>
        <p:spPr>
          <a:xfrm>
            <a:off x="1905000" y="0"/>
            <a:ext cx="5562600" cy="124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Sarvajanik Education Society</a:t>
            </a:r>
            <a:b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12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4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arvajanik College of Engineering and Technology, Surat.</a:t>
            </a:r>
            <a:br>
              <a:rPr lang="en-US" sz="14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Department of Computer Applications </a:t>
            </a:r>
            <a:br>
              <a:rPr lang="en-US" sz="16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Academic Year: 2025– 26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5" name="Google Shape;2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9700" y="0"/>
            <a:ext cx="13843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94;p1"/>
          <p:cNvSpPr txBox="1"/>
          <p:nvPr/>
        </p:nvSpPr>
        <p:spPr>
          <a:xfrm>
            <a:off x="1905000" y="1352550"/>
            <a:ext cx="4724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2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 Project On</a:t>
            </a:r>
            <a:endParaRPr sz="1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b="1" spc="-90" dirty="0">
                <a:solidFill>
                  <a:schemeClr val="tx1"/>
                </a:solidFill>
              </a:rPr>
              <a:t>AYH</a:t>
            </a:r>
            <a:r>
              <a:rPr lang="en-US" b="1" spc="-220" dirty="0">
                <a:solidFill>
                  <a:schemeClr val="tx1"/>
                </a:solidFill>
              </a:rPr>
              <a:t> </a:t>
            </a:r>
            <a:r>
              <a:rPr lang="en-US" b="1" spc="-90" dirty="0">
                <a:solidFill>
                  <a:schemeClr val="tx1"/>
                </a:solidFill>
              </a:rPr>
              <a:t>MART:</a:t>
            </a:r>
            <a:r>
              <a:rPr lang="en-US" b="1" spc="-204" dirty="0">
                <a:solidFill>
                  <a:schemeClr val="tx1"/>
                </a:solidFill>
              </a:rPr>
              <a:t> </a:t>
            </a:r>
            <a:r>
              <a:rPr lang="en-US" b="1" spc="-70" dirty="0">
                <a:solidFill>
                  <a:schemeClr val="tx1"/>
                </a:solidFill>
              </a:rPr>
              <a:t>Checkout </a:t>
            </a:r>
            <a:r>
              <a:rPr lang="en-US" b="1" spc="-10" dirty="0">
                <a:solidFill>
                  <a:schemeClr val="tx1"/>
                </a:solidFill>
              </a:rPr>
              <a:t>System</a:t>
            </a: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600" b="1" dirty="0">
              <a:solidFill>
                <a:schemeClr val="tx1"/>
              </a:solidFill>
            </a:endParaRPr>
          </a:p>
          <a:p>
            <a:pPr algn="ctr">
              <a:buClr>
                <a:schemeClr val="dk1"/>
              </a:buClr>
              <a:buSzPts val="1400"/>
            </a:pPr>
            <a:endParaRPr sz="1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</a:p>
          <a:p>
            <a:pPr marL="12700" marR="466725" algn="ctr">
              <a:buClr>
                <a:srgbClr val="000000"/>
              </a:buClr>
              <a:buSzPts val="2000"/>
            </a:pP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b="1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Aum</a:t>
            </a: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(ET25IMCA039)</a:t>
            </a:r>
          </a:p>
          <a:p>
            <a:pPr marL="12700" marR="466725" algn="ctr">
              <a:buClr>
                <a:srgbClr val="000000"/>
              </a:buClr>
              <a:buSzPts val="2000"/>
            </a:pP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Yash (ET25IMCA044)</a:t>
            </a:r>
          </a:p>
          <a:p>
            <a:pPr marL="12700" marR="466725" algn="ctr">
              <a:buClr>
                <a:srgbClr val="000000"/>
              </a:buClr>
              <a:buSzPts val="2000"/>
            </a:pP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b="1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HariKrushna</a:t>
            </a: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(ET25IMCA008)</a:t>
            </a:r>
          </a:p>
          <a:p>
            <a:pPr algn="ctr">
              <a:buClr>
                <a:schemeClr val="dk1"/>
              </a:buClr>
              <a:buSzPts val="1400"/>
            </a:pPr>
            <a:endParaRPr sz="1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262626"/>
              </a:buClr>
              <a:buSzPts val="1800"/>
            </a:pPr>
            <a:r>
              <a:rPr lang="en-US" sz="16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IMCA I Sem-2</a:t>
            </a:r>
          </a:p>
          <a:p>
            <a:pPr algn="ctr">
              <a:buClr>
                <a:srgbClr val="262626"/>
              </a:buClr>
              <a:buSzPts val="1800"/>
            </a:pPr>
            <a:endParaRPr sz="1600" b="1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Under the Guidance of</a:t>
            </a:r>
            <a:endParaRPr sz="1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Prof. Veer </a:t>
            </a:r>
            <a:r>
              <a:rPr lang="en-US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Pachchigar</a:t>
            </a:r>
            <a:endParaRPr lang="en-US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819150"/>
            <a:ext cx="5329555" cy="8758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470"/>
              </a:lnSpc>
              <a:spcBef>
                <a:spcPts val="130"/>
              </a:spcBef>
            </a:pPr>
            <a:r>
              <a:rPr sz="3050" dirty="0">
                <a:solidFill>
                  <a:srgbClr val="96938B"/>
                </a:solidFill>
                <a:latin typeface="Arial MT"/>
                <a:cs typeface="Arial MT"/>
              </a:rPr>
              <a:t>A</a:t>
            </a:r>
            <a:r>
              <a:rPr sz="3050" spc="-114" dirty="0">
                <a:solidFill>
                  <a:srgbClr val="96938B"/>
                </a:solidFill>
                <a:latin typeface="Arial MT"/>
                <a:cs typeface="Arial MT"/>
              </a:rPr>
              <a:t> </a:t>
            </a:r>
            <a:r>
              <a:rPr sz="3050" spc="-30" dirty="0">
                <a:solidFill>
                  <a:srgbClr val="96938B"/>
                </a:solidFill>
                <a:latin typeface="Arial MT"/>
                <a:cs typeface="Arial MT"/>
              </a:rPr>
              <a:t>Project</a:t>
            </a:r>
            <a:r>
              <a:rPr sz="3050" spc="-110" dirty="0">
                <a:solidFill>
                  <a:srgbClr val="96938B"/>
                </a:solidFill>
                <a:latin typeface="Arial MT"/>
                <a:cs typeface="Arial MT"/>
              </a:rPr>
              <a:t> </a:t>
            </a:r>
            <a:r>
              <a:rPr sz="3050" spc="-25" dirty="0">
                <a:solidFill>
                  <a:srgbClr val="96938B"/>
                </a:solidFill>
                <a:latin typeface="Arial MT"/>
                <a:cs typeface="Arial MT"/>
              </a:rPr>
              <a:t>On</a:t>
            </a:r>
            <a:endParaRPr sz="3050">
              <a:latin typeface="Arial MT"/>
              <a:cs typeface="Arial MT"/>
            </a:endParaRPr>
          </a:p>
          <a:p>
            <a:pPr marL="12700">
              <a:lnSpc>
                <a:spcPts val="3240"/>
              </a:lnSpc>
            </a:pPr>
            <a:r>
              <a:rPr sz="3000" dirty="0">
                <a:solidFill>
                  <a:srgbClr val="F1F1F1"/>
                </a:solidFill>
                <a:latin typeface="Arial MT"/>
                <a:cs typeface="Arial MT"/>
              </a:rPr>
              <a:t>AYH</a:t>
            </a:r>
            <a:r>
              <a:rPr sz="3000" spc="-16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1F1F1"/>
                </a:solidFill>
                <a:latin typeface="Arial MT"/>
                <a:cs typeface="Arial MT"/>
              </a:rPr>
              <a:t>MART</a:t>
            </a:r>
            <a:r>
              <a:rPr sz="3000" spc="-15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1F1F1"/>
                </a:solidFill>
                <a:latin typeface="Arial MT"/>
                <a:cs typeface="Arial MT"/>
              </a:rPr>
              <a:t>-</a:t>
            </a:r>
            <a:r>
              <a:rPr sz="3000" spc="-15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3000" spc="-25">
                <a:solidFill>
                  <a:srgbClr val="F1F1F1"/>
                </a:solidFill>
                <a:latin typeface="Arial MT"/>
                <a:cs typeface="Arial MT"/>
              </a:rPr>
              <a:t>Checkout</a:t>
            </a:r>
            <a:r>
              <a:rPr sz="3000" spc="-105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3000" spc="-10">
                <a:solidFill>
                  <a:srgbClr val="F1F1F1"/>
                </a:solidFill>
                <a:latin typeface="Arial MT"/>
                <a:cs typeface="Arial MT"/>
              </a:rPr>
              <a:t>System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144" y="3622992"/>
            <a:ext cx="932815" cy="357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1100" spc="-10" dirty="0">
                <a:solidFill>
                  <a:srgbClr val="939393"/>
                </a:solidFill>
                <a:latin typeface="Arial MT"/>
                <a:cs typeface="Arial MT"/>
              </a:rPr>
              <a:t>Programme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IMCA</a:t>
            </a:r>
            <a:r>
              <a:rPr sz="1100" spc="4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I</a:t>
            </a:r>
            <a:r>
              <a:rPr sz="1100" spc="12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Sem-</a:t>
            </a:r>
            <a:r>
              <a:rPr sz="1100" spc="-50" dirty="0">
                <a:solidFill>
                  <a:srgbClr val="B8B8B8"/>
                </a:solidFill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7791" y="3622992"/>
            <a:ext cx="1483360" cy="357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1100" dirty="0">
                <a:solidFill>
                  <a:srgbClr val="939393"/>
                </a:solidFill>
                <a:latin typeface="Arial MT"/>
                <a:cs typeface="Arial MT"/>
              </a:rPr>
              <a:t>Under</a:t>
            </a:r>
            <a:r>
              <a:rPr sz="1100" spc="70" dirty="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9393"/>
                </a:solidFill>
                <a:latin typeface="Arial MT"/>
                <a:cs typeface="Arial MT"/>
              </a:rPr>
              <a:t>the</a:t>
            </a:r>
            <a:r>
              <a:rPr sz="1100" spc="135" dirty="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9393"/>
                </a:solidFill>
                <a:latin typeface="Arial MT"/>
                <a:cs typeface="Arial MT"/>
              </a:rPr>
              <a:t>Guidance</a:t>
            </a:r>
            <a:r>
              <a:rPr sz="1100" spc="130" dirty="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939393"/>
                </a:solidFill>
                <a:latin typeface="Arial MT"/>
                <a:cs typeface="Arial MT"/>
              </a:rPr>
              <a:t>of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Prof.</a:t>
            </a:r>
            <a:r>
              <a:rPr sz="1100" spc="-4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Veer</a:t>
            </a:r>
            <a:r>
              <a:rPr sz="1100" spc="-10" dirty="0">
                <a:solidFill>
                  <a:srgbClr val="B8B8B8"/>
                </a:solidFill>
                <a:latin typeface="Arial MT"/>
                <a:cs typeface="Arial MT"/>
              </a:rPr>
              <a:t> Pachchigar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6934" y="3622992"/>
            <a:ext cx="1847214" cy="69826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939393"/>
                </a:solidFill>
                <a:latin typeface="Arial MT"/>
                <a:cs typeface="Arial MT"/>
              </a:rPr>
              <a:t>Presented</a:t>
            </a:r>
            <a:r>
              <a:rPr sz="1100" spc="204" dirty="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939393"/>
                </a:solidFill>
                <a:latin typeface="Arial MT"/>
                <a:cs typeface="Arial MT"/>
              </a:rPr>
              <a:t>By</a:t>
            </a:r>
            <a:endParaRPr sz="1100">
              <a:latin typeface="Arial MT"/>
              <a:cs typeface="Arial MT"/>
            </a:endParaRPr>
          </a:p>
          <a:p>
            <a:pPr marL="12700" marR="466725">
              <a:lnSpc>
                <a:spcPts val="1280"/>
              </a:lnSpc>
              <a:spcBef>
                <a:spcPts val="110"/>
              </a:spcBef>
            </a:pP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Aum</a:t>
            </a:r>
            <a:r>
              <a:rPr sz="1100" spc="-2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-</a:t>
            </a:r>
            <a:r>
              <a:rPr sz="1100" spc="-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8B8B8"/>
                </a:solidFill>
                <a:latin typeface="Arial MT"/>
                <a:cs typeface="Arial MT"/>
              </a:rPr>
              <a:t>ET25IMCA039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Yesh</a:t>
            </a:r>
            <a:r>
              <a:rPr sz="1100" spc="-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-</a:t>
            </a:r>
            <a:r>
              <a:rPr sz="1100" spc="-2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8B8B8"/>
                </a:solidFill>
                <a:latin typeface="Arial MT"/>
                <a:cs typeface="Arial MT"/>
              </a:rPr>
              <a:t>ET25IMCA044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315"/>
              </a:lnSpc>
            </a:pP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HariKrushna</a:t>
            </a:r>
            <a:r>
              <a:rPr sz="1100" spc="-6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-</a:t>
            </a:r>
            <a:r>
              <a:rPr sz="1100" spc="-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8B8B8"/>
                </a:solidFill>
                <a:latin typeface="Arial MT"/>
                <a:cs typeface="Arial MT"/>
              </a:rPr>
              <a:t>ET25IMCA008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333375"/>
            <a:ext cx="3362325" cy="44767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79879" y="313960"/>
            <a:ext cx="3179445" cy="12970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900"/>
              </a:lnSpc>
              <a:spcBef>
                <a:spcPts val="95"/>
              </a:spcBef>
            </a:pPr>
            <a:r>
              <a:rPr sz="3450" dirty="0"/>
              <a:t>What</a:t>
            </a:r>
            <a:r>
              <a:rPr sz="3450" spc="-80" dirty="0"/>
              <a:t> </a:t>
            </a:r>
            <a:r>
              <a:rPr sz="3450" dirty="0"/>
              <a:t>we'll</a:t>
            </a:r>
            <a:r>
              <a:rPr sz="3450" spc="-105" dirty="0"/>
              <a:t> </a:t>
            </a:r>
            <a:r>
              <a:rPr sz="3450" spc="-20" dirty="0"/>
              <a:t>cover </a:t>
            </a:r>
            <a:r>
              <a:rPr sz="3450" spc="-10" dirty="0">
                <a:solidFill>
                  <a:srgbClr val="939393"/>
                </a:solidFill>
              </a:rPr>
              <a:t>Agenda</a:t>
            </a:r>
            <a:endParaRPr sz="3450"/>
          </a:p>
        </p:txBody>
      </p:sp>
      <p:sp>
        <p:nvSpPr>
          <p:cNvPr id="4" name="object 4"/>
          <p:cNvSpPr txBox="1"/>
          <p:nvPr/>
        </p:nvSpPr>
        <p:spPr>
          <a:xfrm>
            <a:off x="4079875" y="1808165"/>
            <a:ext cx="1828800" cy="2139047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70180" indent="-160020">
              <a:lnSpc>
                <a:spcPct val="100000"/>
              </a:lnSpc>
              <a:spcBef>
                <a:spcPts val="1080"/>
              </a:spcBef>
              <a:buSzPct val="93333"/>
              <a:buAutoNum type="arabicPeriod"/>
              <a:tabLst>
                <a:tab pos="170180" algn="l"/>
              </a:tabLst>
            </a:pPr>
            <a:r>
              <a:rPr sz="1500" dirty="0">
                <a:solidFill>
                  <a:srgbClr val="F1F1F1"/>
                </a:solidFill>
                <a:latin typeface="Arial MT"/>
                <a:cs typeface="Arial MT"/>
              </a:rPr>
              <a:t>Project</a:t>
            </a:r>
            <a:r>
              <a:rPr sz="1500" spc="-10" dirty="0">
                <a:solidFill>
                  <a:srgbClr val="F1F1F1"/>
                </a:solidFill>
                <a:latin typeface="Arial MT"/>
                <a:cs typeface="Arial MT"/>
              </a:rPr>
              <a:t> Abstract</a:t>
            </a:r>
            <a:endParaRPr sz="1500" dirty="0">
              <a:latin typeface="Arial MT"/>
              <a:cs typeface="Arial MT"/>
            </a:endParaRPr>
          </a:p>
          <a:p>
            <a:pPr marL="170180" indent="-160020">
              <a:lnSpc>
                <a:spcPct val="100000"/>
              </a:lnSpc>
              <a:spcBef>
                <a:spcPts val="980"/>
              </a:spcBef>
              <a:buSzPct val="93333"/>
              <a:buAutoNum type="arabicPeriod"/>
              <a:tabLst>
                <a:tab pos="170180" algn="l"/>
              </a:tabLst>
            </a:pPr>
            <a:r>
              <a:rPr sz="1500" spc="-10" dirty="0">
                <a:solidFill>
                  <a:srgbClr val="F1F1F1"/>
                </a:solidFill>
                <a:latin typeface="Arial MT"/>
                <a:cs typeface="Arial MT"/>
              </a:rPr>
              <a:t>Objective</a:t>
            </a:r>
            <a:endParaRPr sz="1500" dirty="0">
              <a:latin typeface="Arial MT"/>
              <a:cs typeface="Arial MT"/>
            </a:endParaRPr>
          </a:p>
          <a:p>
            <a:pPr marL="170180" indent="-160020">
              <a:lnSpc>
                <a:spcPct val="100000"/>
              </a:lnSpc>
              <a:spcBef>
                <a:spcPts val="980"/>
              </a:spcBef>
              <a:buSzPct val="93333"/>
              <a:buAutoNum type="arabicPeriod"/>
              <a:tabLst>
                <a:tab pos="170180" algn="l"/>
              </a:tabLst>
            </a:pPr>
            <a:r>
              <a:rPr sz="1500" dirty="0">
                <a:solidFill>
                  <a:srgbClr val="F1F1F1"/>
                </a:solidFill>
                <a:latin typeface="Arial MT"/>
                <a:cs typeface="Arial MT"/>
              </a:rPr>
              <a:t>System</a:t>
            </a:r>
            <a:r>
              <a:rPr sz="1500" spc="-3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1F1F1"/>
                </a:solidFill>
                <a:latin typeface="Arial MT"/>
                <a:cs typeface="Arial MT"/>
              </a:rPr>
              <a:t>Description</a:t>
            </a:r>
            <a:endParaRPr sz="1500" dirty="0">
              <a:latin typeface="Arial MT"/>
              <a:cs typeface="Arial MT"/>
            </a:endParaRPr>
          </a:p>
          <a:p>
            <a:pPr marL="170815" indent="-160655">
              <a:lnSpc>
                <a:spcPct val="100000"/>
              </a:lnSpc>
              <a:spcBef>
                <a:spcPts val="905"/>
              </a:spcBef>
              <a:buSzPct val="93333"/>
              <a:buAutoNum type="arabicPeriod"/>
              <a:tabLst>
                <a:tab pos="170815" algn="l"/>
              </a:tabLst>
            </a:pPr>
            <a:r>
              <a:rPr sz="1500" spc="-10" dirty="0">
                <a:solidFill>
                  <a:srgbClr val="F1F1F1"/>
                </a:solidFill>
                <a:latin typeface="Arial MT"/>
                <a:cs typeface="Arial MT"/>
              </a:rPr>
              <a:t>Screenshots</a:t>
            </a:r>
            <a:endParaRPr sz="1500" dirty="0">
              <a:latin typeface="Arial MT"/>
              <a:cs typeface="Arial MT"/>
            </a:endParaRPr>
          </a:p>
          <a:p>
            <a:pPr marL="170815" indent="-160655">
              <a:lnSpc>
                <a:spcPct val="100000"/>
              </a:lnSpc>
              <a:spcBef>
                <a:spcPts val="980"/>
              </a:spcBef>
              <a:buSzPct val="93333"/>
              <a:buAutoNum type="arabicPeriod"/>
              <a:tabLst>
                <a:tab pos="170815" algn="l"/>
              </a:tabLst>
            </a:pPr>
            <a:r>
              <a:rPr sz="1500" dirty="0">
                <a:solidFill>
                  <a:srgbClr val="F1F1F1"/>
                </a:solidFill>
                <a:latin typeface="Arial MT"/>
                <a:cs typeface="Arial MT"/>
              </a:rPr>
              <a:t>Test</a:t>
            </a:r>
            <a:r>
              <a:rPr sz="1500" spc="-5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1F1F1"/>
                </a:solidFill>
                <a:latin typeface="Arial MT"/>
                <a:cs typeface="Arial MT"/>
              </a:rPr>
              <a:t>Cases</a:t>
            </a:r>
            <a:endParaRPr sz="1500" dirty="0">
              <a:latin typeface="Arial MT"/>
              <a:cs typeface="Arial MT"/>
            </a:endParaRPr>
          </a:p>
          <a:p>
            <a:pPr marL="170815" indent="-160655">
              <a:lnSpc>
                <a:spcPct val="100000"/>
              </a:lnSpc>
              <a:spcBef>
                <a:spcPts val="905"/>
              </a:spcBef>
              <a:buSzPct val="93333"/>
              <a:buAutoNum type="arabicPeriod"/>
              <a:tabLst>
                <a:tab pos="170815" algn="l"/>
              </a:tabLst>
            </a:pPr>
            <a:r>
              <a:rPr sz="1500" spc="-10" dirty="0">
                <a:solidFill>
                  <a:srgbClr val="F1F1F1"/>
                </a:solidFill>
                <a:latin typeface="Arial MT"/>
                <a:cs typeface="Arial MT"/>
              </a:rPr>
              <a:t>References</a:t>
            </a:r>
            <a:endParaRPr sz="15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228600" y="742950"/>
            <a:ext cx="5029200" cy="3810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819150"/>
            <a:ext cx="247523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131313"/>
                </a:solidFill>
              </a:rPr>
              <a:t>Project </a:t>
            </a:r>
            <a:r>
              <a:rPr sz="2750" spc="-10" dirty="0">
                <a:solidFill>
                  <a:srgbClr val="131313"/>
                </a:solidFill>
              </a:rPr>
              <a:t>abstract</a:t>
            </a:r>
            <a:endParaRPr sz="2750"/>
          </a:p>
        </p:txBody>
      </p:sp>
      <p:sp>
        <p:nvSpPr>
          <p:cNvPr id="4" name="object 4"/>
          <p:cNvSpPr txBox="1"/>
          <p:nvPr/>
        </p:nvSpPr>
        <p:spPr>
          <a:xfrm>
            <a:off x="381000" y="1276350"/>
            <a:ext cx="4743450" cy="2986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252525"/>
                </a:solidFill>
                <a:latin typeface="Arial"/>
                <a:cs typeface="Arial"/>
              </a:rPr>
              <a:t>AYH</a:t>
            </a:r>
            <a:r>
              <a:rPr sz="120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2525"/>
                </a:solidFill>
                <a:latin typeface="Arial"/>
                <a:cs typeface="Arial"/>
              </a:rPr>
              <a:t>Mart</a:t>
            </a:r>
            <a:r>
              <a:rPr sz="1200" b="1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2525"/>
                </a:solidFill>
                <a:latin typeface="Arial"/>
                <a:cs typeface="Arial"/>
              </a:rPr>
              <a:t>checkout</a:t>
            </a:r>
            <a:r>
              <a:rPr sz="1200" b="1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52525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300355">
              <a:lnSpc>
                <a:spcPct val="100899"/>
              </a:lnSpc>
              <a:spcBef>
                <a:spcPts val="5"/>
              </a:spcBef>
            </a:pP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AYH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Mart is</a:t>
            </a:r>
            <a:r>
              <a:rPr sz="1200" spc="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console-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based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checkout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 system</a:t>
            </a:r>
            <a:r>
              <a:rPr sz="1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developed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in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C,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designed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120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retail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store.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It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allows</a:t>
            </a:r>
            <a:r>
              <a:rPr sz="1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customers</a:t>
            </a:r>
            <a:r>
              <a:rPr sz="1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1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independently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browse</a:t>
            </a:r>
            <a:r>
              <a:rPr sz="1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products,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add</a:t>
            </a:r>
            <a:r>
              <a:rPr sz="1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items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to a</a:t>
            </a:r>
            <a:r>
              <a:rPr sz="1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cart,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and complete purchases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via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Cash</a:t>
            </a:r>
            <a:r>
              <a:rPr sz="12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or</a:t>
            </a:r>
            <a:r>
              <a:rPr sz="1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UPI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QR</a:t>
            </a:r>
            <a:r>
              <a:rPr sz="1200" spc="-25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Code</a:t>
            </a:r>
            <a:r>
              <a:rPr sz="1200" spc="-10">
                <a:solidFill>
                  <a:srgbClr val="252525"/>
                </a:solidFill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 MT"/>
              <a:cs typeface="Arial MT"/>
            </a:endParaRPr>
          </a:p>
          <a:p>
            <a:pPr marL="12700" marR="125095">
              <a:lnSpc>
                <a:spcPct val="100499"/>
              </a:lnSpc>
            </a:pP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12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system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supports three</a:t>
            </a:r>
            <a:r>
              <a:rPr sz="12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user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roles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-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Customer,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Staff,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1200" spc="-10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Admin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252525"/>
                </a:solidFill>
                <a:latin typeface="Arial MT"/>
                <a:cs typeface="Arial MT"/>
              </a:rPr>
              <a:t>-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each</a:t>
            </a:r>
            <a:r>
              <a:rPr sz="1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with</a:t>
            </a:r>
            <a:r>
              <a:rPr sz="12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12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dedicated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portal.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Key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features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include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product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inventory management,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tiered</a:t>
            </a:r>
            <a:r>
              <a:rPr sz="120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membership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discount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program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(Silver,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Gold, Platinum),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customer</a:t>
            </a:r>
            <a:r>
              <a:rPr sz="12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account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management,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detailed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sales reporting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module.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1699"/>
              </a:lnSpc>
              <a:spcBef>
                <a:spcPts val="5"/>
              </a:spcBef>
            </a:pP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All</a:t>
            </a:r>
            <a:r>
              <a:rPr sz="1200" spc="-4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data</a:t>
            </a:r>
            <a:r>
              <a:rPr sz="1200" spc="5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is</a:t>
            </a:r>
            <a:r>
              <a:rPr sz="1200" spc="-5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managed</a:t>
            </a:r>
            <a:r>
              <a:rPr sz="1200" spc="1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>
                <a:solidFill>
                  <a:srgbClr val="252525"/>
                </a:solidFill>
                <a:latin typeface="Arial MT"/>
                <a:cs typeface="Arial MT"/>
              </a:rPr>
              <a:t>in-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memory</a:t>
            </a:r>
            <a:r>
              <a:rPr sz="1200" spc="-7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using</a:t>
            </a:r>
            <a:r>
              <a:rPr sz="1200" spc="5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structures,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making</a:t>
            </a:r>
            <a:r>
              <a:rPr sz="1200" spc="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1200" spc="-65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>
                <a:solidFill>
                  <a:srgbClr val="252525"/>
                </a:solidFill>
                <a:latin typeface="Arial MT"/>
                <a:cs typeface="Arial MT"/>
              </a:rPr>
              <a:t>system</a:t>
            </a:r>
            <a:endParaRPr lang="en-IN" sz="1200" spc="-10" dirty="0">
              <a:solidFill>
                <a:srgbClr val="252525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01699"/>
              </a:lnSpc>
              <a:spcBef>
                <a:spcPts val="5"/>
              </a:spcBef>
            </a:pPr>
            <a:r>
              <a:rPr lang="en-IN" sz="1200" spc="-10" dirty="0">
                <a:solidFill>
                  <a:srgbClr val="252525"/>
                </a:solidFill>
                <a:latin typeface="Arial MT"/>
                <a:cs typeface="Arial MT"/>
              </a:rPr>
              <a:t>  </a:t>
            </a:r>
            <a:r>
              <a:rPr sz="1200" spc="-10">
                <a:solidFill>
                  <a:srgbClr val="252525"/>
                </a:solidFill>
                <a:latin typeface="Arial MT"/>
                <a:cs typeface="Arial MT"/>
              </a:rPr>
              <a:t>lightweight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,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efficient,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1200" spc="-5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fully</a:t>
            </a:r>
            <a:r>
              <a:rPr sz="1200" spc="5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functional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as</a:t>
            </a:r>
            <a:r>
              <a:rPr sz="1200" spc="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retail</a:t>
            </a:r>
            <a:r>
              <a:rPr sz="1200" spc="-3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>
                <a:solidFill>
                  <a:srgbClr val="252525"/>
                </a:solidFill>
                <a:latin typeface="Arial MT"/>
                <a:cs typeface="Arial MT"/>
              </a:rPr>
              <a:t>managemen</a:t>
            </a:r>
            <a:r>
              <a:rPr lang="en-IN" sz="1200" spc="-10" dirty="0">
                <a:solidFill>
                  <a:srgbClr val="252525"/>
                </a:solidFill>
                <a:latin typeface="Arial MT"/>
                <a:cs typeface="Arial MT"/>
              </a:rPr>
              <a:t>t</a:t>
            </a:r>
          </a:p>
          <a:p>
            <a:pPr marL="12700" marR="5080">
              <a:lnSpc>
                <a:spcPct val="101699"/>
              </a:lnSpc>
              <a:spcBef>
                <a:spcPts val="5"/>
              </a:spcBef>
            </a:pPr>
            <a:r>
              <a:rPr lang="en-IN" sz="1200" spc="-10" dirty="0">
                <a:solidFill>
                  <a:srgbClr val="252525"/>
                </a:solidFill>
                <a:latin typeface="Arial MT"/>
                <a:cs typeface="Arial MT"/>
              </a:rPr>
              <a:t>      </a:t>
            </a:r>
            <a:r>
              <a:rPr sz="1200" spc="-10">
                <a:solidFill>
                  <a:srgbClr val="252525"/>
                </a:solidFill>
                <a:latin typeface="Arial MT"/>
                <a:cs typeface="Arial MT"/>
              </a:rPr>
              <a:t>solution</a:t>
            </a:r>
            <a:r>
              <a:rPr sz="950" spc="-10" dirty="0">
                <a:solidFill>
                  <a:srgbClr val="252525"/>
                </a:solidFill>
                <a:latin typeface="Arial MT"/>
                <a:cs typeface="Arial MT"/>
              </a:rPr>
              <a:t>.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5925" y="561975"/>
            <a:ext cx="3124200" cy="401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"/>
          <p:cNvSpPr txBox="1"/>
          <p:nvPr/>
        </p:nvSpPr>
        <p:spPr>
          <a:xfrm>
            <a:off x="457200" y="361950"/>
            <a:ext cx="2712720" cy="671979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250" dirty="0">
                <a:solidFill>
                  <a:srgbClr val="F1F1F1"/>
                </a:solidFill>
                <a:latin typeface="Arial MT"/>
                <a:cs typeface="Arial MT"/>
              </a:rPr>
              <a:t>System</a:t>
            </a:r>
            <a:r>
              <a:rPr sz="2250" spc="2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2250" spc="-10" dirty="0">
                <a:solidFill>
                  <a:srgbClr val="F1F1F1"/>
                </a:solidFill>
                <a:latin typeface="Arial MT"/>
                <a:cs typeface="Arial MT"/>
              </a:rPr>
              <a:t>description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50" spc="-10" dirty="0">
                <a:solidFill>
                  <a:srgbClr val="96938B"/>
                </a:solidFill>
                <a:latin typeface="Arial MT"/>
                <a:cs typeface="Arial MT"/>
              </a:rPr>
              <a:t>Languages,</a:t>
            </a:r>
            <a:r>
              <a:rPr sz="950" dirty="0">
                <a:solidFill>
                  <a:srgbClr val="96938B"/>
                </a:solidFill>
                <a:latin typeface="Arial MT"/>
                <a:cs typeface="Arial MT"/>
              </a:rPr>
              <a:t> libraries,</a:t>
            </a:r>
            <a:r>
              <a:rPr sz="950" spc="5" dirty="0">
                <a:solidFill>
                  <a:srgbClr val="96938B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96938B"/>
                </a:solidFill>
                <a:latin typeface="Arial MT"/>
                <a:cs typeface="Arial MT"/>
              </a:rPr>
              <a:t>data</a:t>
            </a:r>
            <a:r>
              <a:rPr sz="950" spc="35" dirty="0">
                <a:solidFill>
                  <a:srgbClr val="96938B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96938B"/>
                </a:solidFill>
                <a:latin typeface="Arial MT"/>
                <a:cs typeface="Arial MT"/>
              </a:rPr>
              <a:t>structures</a:t>
            </a:r>
            <a:r>
              <a:rPr sz="950" spc="-65" dirty="0">
                <a:solidFill>
                  <a:srgbClr val="96938B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96938B"/>
                </a:solidFill>
                <a:latin typeface="Arial MT"/>
                <a:cs typeface="Arial MT"/>
              </a:rPr>
              <a:t>and</a:t>
            </a:r>
            <a:r>
              <a:rPr sz="950" spc="35" dirty="0">
                <a:solidFill>
                  <a:srgbClr val="96938B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96938B"/>
                </a:solidFill>
                <a:latin typeface="Arial MT"/>
                <a:cs typeface="Arial MT"/>
              </a:rPr>
              <a:t>functions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295400" y="1276350"/>
            <a:ext cx="2667000" cy="1219200"/>
          </a:xfrm>
          <a:prstGeom prst="roundRect">
            <a:avLst/>
          </a:prstGeom>
          <a:ln w="3810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bject 4"/>
          <p:cNvSpPr txBox="1"/>
          <p:nvPr/>
        </p:nvSpPr>
        <p:spPr>
          <a:xfrm>
            <a:off x="1447800" y="1428750"/>
            <a:ext cx="1386205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Language</a:t>
            </a:r>
            <a:r>
              <a:rPr sz="1100" spc="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&amp;</a:t>
            </a:r>
            <a:r>
              <a:rPr sz="1100" spc="1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Platform</a:t>
            </a:r>
            <a:endParaRPr sz="110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47800" y="1657351"/>
            <a:ext cx="1905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   C (Standard C)</a:t>
            </a:r>
            <a:endParaRPr lang="en-US" sz="1100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   Windows Console App</a:t>
            </a:r>
            <a:endParaRPr lang="en-US" sz="1100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   GCC / Dev-C++</a:t>
            </a:r>
            <a:endParaRPr lang="en-US" sz="11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381000" y="2952750"/>
            <a:ext cx="3124200" cy="1524000"/>
          </a:xfrm>
          <a:prstGeom prst="roundRect">
            <a:avLst/>
          </a:prstGeom>
          <a:ln w="3810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bject 4"/>
          <p:cNvSpPr txBox="1"/>
          <p:nvPr/>
        </p:nvSpPr>
        <p:spPr>
          <a:xfrm>
            <a:off x="533400" y="3105150"/>
            <a:ext cx="1386205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dirty="0">
                <a:solidFill>
                  <a:schemeClr val="tx1"/>
                </a:solidFill>
                <a:latin typeface="Arial MT"/>
                <a:cs typeface="Arial MT"/>
              </a:rPr>
              <a:t>Libraries</a:t>
            </a:r>
            <a:r>
              <a:rPr lang="en-US" sz="1100" spc="1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1100" spc="-20" dirty="0">
                <a:solidFill>
                  <a:schemeClr val="tx1"/>
                </a:solidFill>
                <a:latin typeface="Arial MT"/>
                <a:cs typeface="Arial MT"/>
              </a:rPr>
              <a:t>used</a:t>
            </a:r>
            <a:endParaRPr lang="en-US" sz="11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3333750"/>
            <a:ext cx="3048000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   </a:t>
            </a:r>
            <a:r>
              <a:rPr lang="en-US" sz="1100" b="1" dirty="0" err="1">
                <a:solidFill>
                  <a:schemeClr val="tx1"/>
                </a:solidFill>
              </a:rPr>
              <a:t>stdio.h</a:t>
            </a:r>
            <a:r>
              <a:rPr lang="en-US" sz="1100" dirty="0">
                <a:solidFill>
                  <a:schemeClr val="tx1"/>
                </a:solidFill>
              </a:rPr>
              <a:t> — I/O operations</a:t>
            </a:r>
          </a:p>
          <a:p>
            <a:pPr>
              <a:buFont typeface="Arial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   </a:t>
            </a:r>
            <a:r>
              <a:rPr lang="en-US" sz="1100" b="1" dirty="0" err="1">
                <a:solidFill>
                  <a:schemeClr val="tx1"/>
                </a:solidFill>
              </a:rPr>
              <a:t>string.h</a:t>
            </a:r>
            <a:r>
              <a:rPr lang="en-US" sz="1100" dirty="0">
                <a:solidFill>
                  <a:schemeClr val="tx1"/>
                </a:solidFill>
              </a:rPr>
              <a:t> — String handling</a:t>
            </a:r>
          </a:p>
          <a:p>
            <a:pPr>
              <a:buFont typeface="Arial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   </a:t>
            </a:r>
            <a:r>
              <a:rPr lang="en-US" sz="1100" b="1" dirty="0" err="1">
                <a:solidFill>
                  <a:schemeClr val="tx1"/>
                </a:solidFill>
              </a:rPr>
              <a:t>ctype.h</a:t>
            </a:r>
            <a:r>
              <a:rPr lang="en-US" sz="1100" dirty="0">
                <a:solidFill>
                  <a:schemeClr val="tx1"/>
                </a:solidFill>
              </a:rPr>
              <a:t> — Char classification</a:t>
            </a:r>
          </a:p>
          <a:p>
            <a:pPr>
              <a:buFont typeface="Arial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   </a:t>
            </a:r>
            <a:r>
              <a:rPr lang="en-US" sz="1100" b="1" dirty="0" err="1">
                <a:solidFill>
                  <a:schemeClr val="tx1"/>
                </a:solidFill>
              </a:rPr>
              <a:t>stdlib.h</a:t>
            </a:r>
            <a:r>
              <a:rPr lang="en-US" sz="1100" dirty="0">
                <a:solidFill>
                  <a:schemeClr val="tx1"/>
                </a:solidFill>
              </a:rPr>
              <a:t> — System calls, exit()</a:t>
            </a:r>
          </a:p>
          <a:p>
            <a:pPr>
              <a:buFont typeface="Arial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   </a:t>
            </a:r>
            <a:r>
              <a:rPr lang="en-US" sz="1100" b="1" dirty="0" err="1">
                <a:solidFill>
                  <a:schemeClr val="tx1"/>
                </a:solidFill>
              </a:rPr>
              <a:t>windows.h</a:t>
            </a:r>
            <a:r>
              <a:rPr lang="en-US" sz="1100" dirty="0">
                <a:solidFill>
                  <a:schemeClr val="tx1"/>
                </a:solidFill>
              </a:rPr>
              <a:t> — UTF-8 / Unicode support</a:t>
            </a:r>
          </a:p>
          <a:p>
            <a:endParaRPr lang="en-US" dirty="0"/>
          </a:p>
        </p:txBody>
      </p:sp>
      <p:sp>
        <p:nvSpPr>
          <p:cNvPr id="28" name="Rounded Rectangle 27"/>
          <p:cNvSpPr/>
          <p:nvPr/>
        </p:nvSpPr>
        <p:spPr>
          <a:xfrm>
            <a:off x="4648200" y="2266950"/>
            <a:ext cx="3124200" cy="1905000"/>
          </a:xfrm>
          <a:prstGeom prst="roundRect">
            <a:avLst/>
          </a:prstGeom>
          <a:ln w="3810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bject 4"/>
          <p:cNvSpPr txBox="1"/>
          <p:nvPr/>
        </p:nvSpPr>
        <p:spPr>
          <a:xfrm>
            <a:off x="4800600" y="2419350"/>
            <a:ext cx="2819400" cy="3545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sz="1100" b="1" dirty="0">
                <a:solidFill>
                  <a:schemeClr val="tx1"/>
                </a:solidFill>
              </a:rPr>
              <a:t>Architecture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Menu-driven, modular function design.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24400" y="2876550"/>
            <a:ext cx="304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/>
                </a:solidFill>
              </a:rPr>
              <a:t>5 core modules:</a:t>
            </a:r>
            <a:endParaRPr lang="en-US" sz="1100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   Inventory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   Members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   Customer Self-Checkout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   Sales Reports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   Customer Accounts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2199" rIns="0" bIns="0" rtlCol="0">
            <a:spAutoFit/>
          </a:bodyPr>
          <a:lstStyle/>
          <a:p>
            <a:pPr marL="441959">
              <a:lnSpc>
                <a:spcPct val="100000"/>
              </a:lnSpc>
              <a:spcBef>
                <a:spcPts val="130"/>
              </a:spcBef>
            </a:pPr>
            <a:r>
              <a:rPr sz="3050" spc="-30" dirty="0"/>
              <a:t>Project</a:t>
            </a:r>
            <a:r>
              <a:rPr sz="3050" spc="-155" dirty="0"/>
              <a:t> </a:t>
            </a:r>
            <a:r>
              <a:rPr sz="3050" spc="-20" dirty="0"/>
              <a:t>objectives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4" y="1219202"/>
            <a:ext cx="2352675" cy="155257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4" name="object 4"/>
          <p:cNvSpPr txBox="1"/>
          <p:nvPr/>
        </p:nvSpPr>
        <p:spPr>
          <a:xfrm>
            <a:off x="975360" y="1582102"/>
            <a:ext cx="130937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C-</a:t>
            </a:r>
            <a:r>
              <a:rPr sz="1400" dirty="0">
                <a:solidFill>
                  <a:srgbClr val="F3F3F3"/>
                </a:solidFill>
                <a:latin typeface="Arial MT"/>
                <a:cs typeface="Arial MT"/>
              </a:rPr>
              <a:t>based</a:t>
            </a:r>
            <a:r>
              <a:rPr sz="1400" spc="-15" dirty="0">
                <a:solidFill>
                  <a:srgbClr val="F3F3F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system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9954" y="1219202"/>
            <a:ext cx="2352675" cy="155257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6" name="object 6"/>
          <p:cNvSpPr txBox="1"/>
          <p:nvPr/>
        </p:nvSpPr>
        <p:spPr>
          <a:xfrm>
            <a:off x="3542033" y="1582102"/>
            <a:ext cx="153987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Role-</a:t>
            </a:r>
            <a:r>
              <a:rPr sz="1400" dirty="0">
                <a:solidFill>
                  <a:srgbClr val="F3F3F3"/>
                </a:solidFill>
                <a:latin typeface="Arial MT"/>
                <a:cs typeface="Arial MT"/>
              </a:rPr>
              <a:t>based </a:t>
            </a: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access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2179" y="1219202"/>
            <a:ext cx="2352675" cy="155257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8" name="object 8"/>
          <p:cNvSpPr txBox="1"/>
          <p:nvPr/>
        </p:nvSpPr>
        <p:spPr>
          <a:xfrm>
            <a:off x="6109084" y="1582102"/>
            <a:ext cx="183705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F3F3F3"/>
                </a:solidFill>
                <a:latin typeface="Arial MT"/>
                <a:cs typeface="Arial MT"/>
              </a:rPr>
              <a:t>Inventory</a:t>
            </a:r>
            <a:r>
              <a:rPr sz="1400" spc="-40" dirty="0">
                <a:solidFill>
                  <a:srgbClr val="F3F3F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management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4" y="2971800"/>
            <a:ext cx="2352675" cy="15621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0" name="object 10"/>
          <p:cNvSpPr txBox="1"/>
          <p:nvPr/>
        </p:nvSpPr>
        <p:spPr>
          <a:xfrm>
            <a:off x="975360" y="3339147"/>
            <a:ext cx="154432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Tiered</a:t>
            </a:r>
            <a:r>
              <a:rPr sz="1400" spc="-45" dirty="0">
                <a:solidFill>
                  <a:srgbClr val="F3F3F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membership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09954" y="2971800"/>
            <a:ext cx="2352675" cy="15621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2" name="object 12"/>
          <p:cNvSpPr txBox="1"/>
          <p:nvPr/>
        </p:nvSpPr>
        <p:spPr>
          <a:xfrm>
            <a:off x="3548130" y="3339147"/>
            <a:ext cx="112585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F3F3F3"/>
                </a:solidFill>
                <a:latin typeface="Arial MT"/>
                <a:cs typeface="Arial MT"/>
              </a:rPr>
              <a:t>Dual</a:t>
            </a:r>
            <a:r>
              <a:rPr sz="1400" spc="5" dirty="0">
                <a:solidFill>
                  <a:srgbClr val="F3F3F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payment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72179" y="2971800"/>
            <a:ext cx="2352675" cy="15621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4" name="object 14"/>
          <p:cNvSpPr txBox="1"/>
          <p:nvPr/>
        </p:nvSpPr>
        <p:spPr>
          <a:xfrm>
            <a:off x="6109080" y="3339147"/>
            <a:ext cx="106807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F3F3F3"/>
                </a:solidFill>
                <a:latin typeface="Arial MT"/>
                <a:cs typeface="Arial MT"/>
              </a:rPr>
              <a:t>Sales</a:t>
            </a:r>
            <a:r>
              <a:rPr sz="1400" spc="-20" dirty="0">
                <a:solidFill>
                  <a:srgbClr val="F3F3F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reports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  <p:sp>
        <p:nvSpPr>
          <p:cNvPr id="3" name="object 3"/>
          <p:cNvSpPr txBox="1"/>
          <p:nvPr/>
        </p:nvSpPr>
        <p:spPr>
          <a:xfrm>
            <a:off x="5911850" y="1638300"/>
            <a:ext cx="178308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Main</a:t>
            </a:r>
            <a:r>
              <a:rPr sz="2750" spc="14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20" dirty="0">
                <a:solidFill>
                  <a:srgbClr val="B8B8B8"/>
                </a:solidFill>
                <a:latin typeface="Arial MT"/>
                <a:cs typeface="Arial MT"/>
              </a:rPr>
              <a:t>menu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413" y="866777"/>
            <a:ext cx="4662551" cy="18764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3000" y="3638550"/>
            <a:ext cx="243141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9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Store</a:t>
            </a:r>
            <a:r>
              <a:rPr sz="2750" spc="2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20" dirty="0">
                <a:solidFill>
                  <a:srgbClr val="B8B8B8"/>
                </a:solidFill>
                <a:latin typeface="Arial MT"/>
                <a:cs typeface="Arial MT"/>
              </a:rPr>
              <a:t>Info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2876550"/>
            <a:ext cx="4181475" cy="2076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467600" cy="64995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  <p:sp>
        <p:nvSpPr>
          <p:cNvPr id="3" name="object 3"/>
          <p:cNvSpPr txBox="1"/>
          <p:nvPr/>
        </p:nvSpPr>
        <p:spPr>
          <a:xfrm>
            <a:off x="5747007" y="1638300"/>
            <a:ext cx="200342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Admin</a:t>
            </a:r>
            <a:r>
              <a:rPr sz="2750" spc="9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Login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9200" y="3562350"/>
            <a:ext cx="206565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Admin</a:t>
            </a:r>
            <a:r>
              <a:rPr sz="2750" spc="8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Portal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9" y="838202"/>
            <a:ext cx="4181475" cy="1933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580" y="2705511"/>
            <a:ext cx="3748820" cy="2228440"/>
          </a:xfrm>
          <a:prstGeom prst="rect">
            <a:avLst/>
          </a:prstGeom>
        </p:spPr>
      </p:pic>
      <p:sp>
        <p:nvSpPr>
          <p:cNvPr id="8" name="object 2"/>
          <p:cNvSpPr txBox="1">
            <a:spLocks/>
          </p:cNvSpPr>
          <p:nvPr/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 anchor="ctr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-1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22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979293" y="1528445"/>
            <a:ext cx="366458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Inventory</a:t>
            </a:r>
            <a:r>
              <a:rPr sz="2750" spc="17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Management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5400" y="3638550"/>
            <a:ext cx="240030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Add</a:t>
            </a:r>
            <a:r>
              <a:rPr sz="2750" spc="8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Product(s)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" y="828677"/>
            <a:ext cx="4171950" cy="2257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4" y="2343151"/>
            <a:ext cx="3077451" cy="2526405"/>
          </a:xfrm>
          <a:prstGeom prst="rect">
            <a:avLst/>
          </a:prstGeom>
        </p:spPr>
      </p:pic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979293" y="1528445"/>
            <a:ext cx="366458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Inventory</a:t>
            </a:r>
            <a:r>
              <a:rPr sz="2750" spc="17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Management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1252" y="3803015"/>
            <a:ext cx="196215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Edit</a:t>
            </a:r>
            <a:r>
              <a:rPr sz="2750" spc="7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Product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742952"/>
            <a:ext cx="4171950" cy="22574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4" y="2571752"/>
            <a:ext cx="4172741" cy="2244163"/>
          </a:xfrm>
          <a:prstGeom prst="rect">
            <a:avLst/>
          </a:prstGeom>
        </p:spPr>
      </p:pic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152400" y="571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35676" y="1457960"/>
            <a:ext cx="237998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Delete</a:t>
            </a:r>
            <a:r>
              <a:rPr sz="2750" spc="17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Product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817" y="3889376"/>
            <a:ext cx="256921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7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all</a:t>
            </a:r>
            <a:r>
              <a:rPr sz="2750" spc="-3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Product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38" y="713767"/>
            <a:ext cx="4259362" cy="27720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4" y="2582818"/>
            <a:ext cx="4515299" cy="2184176"/>
          </a:xfrm>
          <a:prstGeom prst="rect">
            <a:avLst/>
          </a:prstGeom>
        </p:spPr>
      </p:pic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35680" y="1457960"/>
            <a:ext cx="236029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Member</a:t>
            </a:r>
            <a:r>
              <a:rPr sz="2750" spc="21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Portal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821" y="3889376"/>
            <a:ext cx="287337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Add</a:t>
            </a:r>
            <a:r>
              <a:rPr sz="2750" spc="9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New</a:t>
            </a:r>
            <a:r>
              <a:rPr sz="2750" spc="8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Member</a:t>
            </a:r>
            <a:endParaRPr sz="275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0050" y="847725"/>
            <a:ext cx="8743950" cy="4210050"/>
            <a:chOff x="400050" y="847725"/>
            <a:chExt cx="8743950" cy="42100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050" y="847725"/>
              <a:ext cx="4724400" cy="2552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7775" y="2752725"/>
              <a:ext cx="4086225" cy="2305048"/>
            </a:xfrm>
            <a:prstGeom prst="rect">
              <a:avLst/>
            </a:prstGeom>
          </p:spPr>
        </p:pic>
      </p:grp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88358" y="1504949"/>
            <a:ext cx="245681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Delete</a:t>
            </a:r>
            <a:r>
              <a:rPr sz="2750" spc="17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Member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626" y="3889376"/>
            <a:ext cx="264985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8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all</a:t>
            </a:r>
            <a:r>
              <a:rPr sz="2750" spc="-2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Member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" y="723900"/>
            <a:ext cx="5143500" cy="1905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6679" y="3209925"/>
            <a:ext cx="5267325" cy="1676400"/>
          </a:xfrm>
          <a:prstGeom prst="rect">
            <a:avLst/>
          </a:prstGeom>
        </p:spPr>
      </p:pic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381000" y="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888358" y="1504949"/>
            <a:ext cx="208470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Sales</a:t>
            </a:r>
            <a:r>
              <a:rPr sz="2750" spc="9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Report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9797" y="3928109"/>
            <a:ext cx="236220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Sale</a:t>
            </a:r>
            <a:r>
              <a:rPr sz="2750" spc="6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Summary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5" y="885827"/>
            <a:ext cx="3981450" cy="22383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38754" y="2571750"/>
            <a:ext cx="3667125" cy="2438400"/>
          </a:xfrm>
          <a:prstGeom prst="rect">
            <a:avLst/>
          </a:prstGeom>
        </p:spPr>
      </p:pic>
      <p:sp>
        <p:nvSpPr>
          <p:cNvPr id="9" name="object 2"/>
          <p:cNvSpPr txBox="1">
            <a:spLocks/>
          </p:cNvSpPr>
          <p:nvPr/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-1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22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73069" y="1528445"/>
            <a:ext cx="340677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Product</a:t>
            </a:r>
            <a:r>
              <a:rPr sz="2750" spc="8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Sales</a:t>
            </a:r>
            <a:r>
              <a:rPr sz="2750" spc="15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Report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5646" y="3826509"/>
            <a:ext cx="2817495" cy="86908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874394" marR="5080" indent="-862330">
              <a:lnSpc>
                <a:spcPct val="102499"/>
              </a:lnSpc>
              <a:spcBef>
                <a:spcPts val="45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Member</a:t>
            </a:r>
            <a:r>
              <a:rPr sz="2750" spc="21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Discount Report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4" y="819150"/>
            <a:ext cx="4714875" cy="14668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6226" y="3143250"/>
            <a:ext cx="4886325" cy="1695450"/>
          </a:xfrm>
          <a:prstGeom prst="rect">
            <a:avLst/>
          </a:prstGeom>
        </p:spPr>
      </p:pic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5012" y="3152141"/>
            <a:ext cx="8312150" cy="184435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27355" marR="5384800" indent="-414655">
              <a:lnSpc>
                <a:spcPct val="102400"/>
              </a:lnSpc>
              <a:spcBef>
                <a:spcPts val="5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Customer</a:t>
            </a:r>
            <a:r>
              <a:rPr sz="2750" spc="2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Account Management</a:t>
            </a:r>
            <a:endParaRPr sz="27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2750" dirty="0">
              <a:latin typeface="Arial MT"/>
              <a:cs typeface="Arial MT"/>
            </a:endParaRPr>
          </a:p>
          <a:p>
            <a:pPr marL="3852545">
              <a:lnSpc>
                <a:spcPct val="100000"/>
              </a:lnSpc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Add</a:t>
            </a:r>
            <a:r>
              <a:rPr sz="2750" spc="14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New</a:t>
            </a:r>
            <a:r>
              <a:rPr sz="2750" spc="14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Customer</a:t>
            </a:r>
            <a:r>
              <a:rPr sz="2750" spc="-9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Account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9" y="771527"/>
            <a:ext cx="4162425" cy="2276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809752"/>
            <a:ext cx="4235668" cy="2324219"/>
          </a:xfrm>
          <a:prstGeom prst="rect">
            <a:avLst/>
          </a:prstGeom>
        </p:spPr>
      </p:pic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381000" y="571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73065" y="1528445"/>
            <a:ext cx="288417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7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all</a:t>
            </a:r>
            <a:r>
              <a:rPr sz="2750" spc="-3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Customer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332" y="3826509"/>
            <a:ext cx="269367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Delete</a:t>
            </a:r>
            <a:r>
              <a:rPr sz="2750" spc="16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Customer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3227273"/>
            <a:ext cx="5334000" cy="16480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17" y="971549"/>
            <a:ext cx="4927898" cy="1855209"/>
          </a:xfrm>
          <a:prstGeom prst="rect">
            <a:avLst/>
          </a:prstGeom>
        </p:spPr>
      </p:pic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73065" y="1528445"/>
            <a:ext cx="253492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Customer</a:t>
            </a:r>
            <a:r>
              <a:rPr sz="2750" spc="23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20" dirty="0">
                <a:solidFill>
                  <a:srgbClr val="B8B8B8"/>
                </a:solidFill>
                <a:latin typeface="Arial MT"/>
                <a:cs typeface="Arial MT"/>
              </a:rPr>
              <a:t>Login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5180" y="3826509"/>
            <a:ext cx="259969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Customer</a:t>
            </a:r>
            <a:r>
              <a:rPr sz="2750" spc="25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Portal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666750"/>
            <a:ext cx="4572000" cy="2362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5" y="2217617"/>
            <a:ext cx="4274179" cy="2878245"/>
          </a:xfrm>
          <a:prstGeom prst="rect">
            <a:avLst/>
          </a:prstGeom>
        </p:spPr>
      </p:pic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0362" y="1375593"/>
            <a:ext cx="211264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5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Product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4096" y="3866698"/>
            <a:ext cx="247650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Search</a:t>
            </a:r>
            <a:r>
              <a:rPr sz="2750" spc="14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Product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80" y="742950"/>
            <a:ext cx="4674345" cy="28485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979" y="2674100"/>
            <a:ext cx="4190251" cy="2107450"/>
          </a:xfrm>
          <a:prstGeom prst="rect">
            <a:avLst/>
          </a:prstGeom>
        </p:spPr>
      </p:pic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152400" y="-952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83914" y="2642235"/>
            <a:ext cx="310578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Add Item</a:t>
            </a:r>
            <a:r>
              <a:rPr sz="2750" spc="-2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45" dirty="0">
                <a:solidFill>
                  <a:srgbClr val="B8B8B8"/>
                </a:solidFill>
                <a:latin typeface="Arial MT"/>
                <a:cs typeface="Arial MT"/>
              </a:rPr>
              <a:t>To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Basket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95350"/>
            <a:ext cx="4796656" cy="3733800"/>
          </a:xfrm>
          <a:prstGeom prst="rect">
            <a:avLst/>
          </a:prstGeom>
        </p:spPr>
      </p:pic>
      <p:sp>
        <p:nvSpPr>
          <p:cNvPr id="9" name="object 2"/>
          <p:cNvSpPr txBox="1">
            <a:spLocks/>
          </p:cNvSpPr>
          <p:nvPr/>
        </p:nvSpPr>
        <p:spPr>
          <a:xfrm>
            <a:off x="228600" y="571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11244" y="1363980"/>
            <a:ext cx="1971039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6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Basket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800" y="3638550"/>
            <a:ext cx="2849245" cy="86908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040130" marR="5080" indent="-1028065">
              <a:lnSpc>
                <a:spcPct val="102499"/>
              </a:lnSpc>
              <a:spcBef>
                <a:spcPts val="45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6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Membership </a:t>
            </a:r>
            <a:r>
              <a:rPr sz="2750" spc="-20" dirty="0">
                <a:solidFill>
                  <a:srgbClr val="B8B8B8"/>
                </a:solidFill>
                <a:latin typeface="Arial MT"/>
                <a:cs typeface="Arial MT"/>
              </a:rPr>
              <a:t>Card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66752"/>
            <a:ext cx="4753426" cy="25029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160857"/>
            <a:ext cx="4191000" cy="2982645"/>
          </a:xfrm>
          <a:prstGeom prst="rect">
            <a:avLst/>
          </a:prstGeom>
        </p:spPr>
      </p:pic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304800" y="571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213096" y="2500566"/>
            <a:ext cx="313055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Check-Out</a:t>
            </a:r>
            <a:r>
              <a:rPr sz="2750" spc="17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via</a:t>
            </a:r>
            <a:r>
              <a:rPr sz="2750" spc="13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20" dirty="0">
                <a:solidFill>
                  <a:srgbClr val="B8B8B8"/>
                </a:solidFill>
                <a:latin typeface="Arial MT"/>
                <a:cs typeface="Arial MT"/>
              </a:rPr>
              <a:t>cash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4" y="666750"/>
            <a:ext cx="4718051" cy="3962400"/>
          </a:xfrm>
          <a:prstGeom prst="rect">
            <a:avLst/>
          </a:prstGeom>
        </p:spPr>
      </p:pic>
      <p:sp>
        <p:nvSpPr>
          <p:cNvPr id="8" name="object 2"/>
          <p:cNvSpPr txBox="1">
            <a:spLocks/>
          </p:cNvSpPr>
          <p:nvPr/>
        </p:nvSpPr>
        <p:spPr>
          <a:xfrm>
            <a:off x="304800" y="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170" y="4132580"/>
            <a:ext cx="291401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Check-Out</a:t>
            </a:r>
            <a:r>
              <a:rPr sz="2750" spc="18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via</a:t>
            </a:r>
            <a:r>
              <a:rPr sz="2750" spc="15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25" dirty="0">
                <a:solidFill>
                  <a:srgbClr val="B8B8B8"/>
                </a:solidFill>
                <a:latin typeface="Arial MT"/>
                <a:cs typeface="Arial MT"/>
              </a:rPr>
              <a:t>QR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16" y="765617"/>
            <a:ext cx="4815861" cy="29809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09550"/>
            <a:ext cx="3081714" cy="4782907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76200" y="571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-1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22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41750" y="2524760"/>
            <a:ext cx="244284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Exit</a:t>
            </a:r>
            <a:r>
              <a:rPr sz="2750" spc="-13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Application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25" y="782363"/>
            <a:ext cx="5663063" cy="3934374"/>
          </a:xfrm>
          <a:prstGeom prst="rect">
            <a:avLst/>
          </a:prstGeom>
        </p:spPr>
      </p:pic>
      <p:sp>
        <p:nvSpPr>
          <p:cNvPr id="7" name="object 2"/>
          <p:cNvSpPr txBox="1">
            <a:spLocks/>
          </p:cNvSpPr>
          <p:nvPr/>
        </p:nvSpPr>
        <p:spPr>
          <a:xfrm>
            <a:off x="76200" y="571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-1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22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924800" y="4324350"/>
            <a:ext cx="1009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1F1F1"/>
                </a:solidFill>
                <a:latin typeface="Arial MT"/>
                <a:cs typeface="Arial MT"/>
              </a:rPr>
              <a:t>AYH</a:t>
            </a:r>
            <a:r>
              <a:rPr sz="1500" spc="-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1F1F1"/>
                </a:solidFill>
                <a:latin typeface="Arial MT"/>
                <a:cs typeface="Arial MT"/>
              </a:rPr>
              <a:t>MART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4138" y="4590683"/>
            <a:ext cx="1451355" cy="17877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362200" y="2038350"/>
            <a:ext cx="5181600" cy="11221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3195" lvl="0">
              <a:spcBef>
                <a:spcPts val="1945"/>
              </a:spcBef>
              <a:buClrTx/>
              <a:buSzTx/>
              <a:defRPr/>
            </a:pPr>
            <a:r>
              <a:rPr lang="en-US" sz="7200" spc="-10" dirty="0"/>
              <a:t>Test</a:t>
            </a:r>
            <a:r>
              <a:rPr lang="en-US" sz="7200" spc="-180" dirty="0"/>
              <a:t> </a:t>
            </a:r>
            <a:r>
              <a:rPr lang="en-US" sz="7200" spc="-20" dirty="0"/>
              <a:t>Cases</a:t>
            </a:r>
            <a:endParaRPr lang="en-US" sz="7200" dirty="0"/>
          </a:p>
        </p:txBody>
      </p:sp>
      <p:sp>
        <p:nvSpPr>
          <p:cNvPr id="10" name="Right Triangle 9"/>
          <p:cNvSpPr/>
          <p:nvPr/>
        </p:nvSpPr>
        <p:spPr>
          <a:xfrm>
            <a:off x="0" y="1733550"/>
            <a:ext cx="4191000" cy="340995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990600" y="285750"/>
            <a:ext cx="43941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1. AUTHENTICATION TEST CASES</a:t>
            </a:r>
          </a:p>
        </p:txBody>
      </p:sp>
      <p:pic>
        <p:nvPicPr>
          <p:cNvPr id="5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457200" y="742950"/>
            <a:ext cx="8001000" cy="35052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1122"/>
              </p:ext>
            </p:extLst>
          </p:nvPr>
        </p:nvGraphicFramePr>
        <p:xfrm>
          <a:off x="762000" y="971550"/>
          <a:ext cx="7010405" cy="311607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164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0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080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marL="19880" marR="19880" marT="9940" marB="99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629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TC01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Admin login valid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admin / admin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Admin dashboard opens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9880" marR="19880" marT="9940" marB="99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57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TC02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Staff login valid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staff / staff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Staff portal opens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9880" marR="19880" marT="9940" marB="99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527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TC03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Login invalid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Wrong credentials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message shown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9880" marR="19880" marT="9940" marB="99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79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TC04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Empty login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Blank input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/ retry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9880" marR="19880" marT="9940" marB="994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079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TC05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Case sensitivity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Admin/Admin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Login fail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9880" marR="19880" marT="9940" marB="994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80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TC06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Password masking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Enter password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Hidden input (*)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9880" marR="19880" marT="9940" marB="994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304800" y="1504950"/>
            <a:ext cx="8610600" cy="2057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83797"/>
              </p:ext>
            </p:extLst>
          </p:nvPr>
        </p:nvGraphicFramePr>
        <p:xfrm>
          <a:off x="685801" y="1657349"/>
          <a:ext cx="7936867" cy="176164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07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9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223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8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Valid customer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Correct ID + 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Welcome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23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Invalid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Wrong ID/pass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23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customers exist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Login attempt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Fail safely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600" y="1047750"/>
            <a:ext cx="28055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2. CUSTOMER LOGIN</a:t>
            </a:r>
          </a:p>
        </p:txBody>
      </p:sp>
    </p:spTree>
    <p:extLst>
      <p:ext uri="{BB962C8B-B14F-4D97-AF65-F5344CB8AC3E}">
        <p14:creationId xmlns:p14="http://schemas.microsoft.com/office/powerpoint/2010/main" val="3627450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1066800" y="285750"/>
            <a:ext cx="38779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3. INVENTORY MANAGEMENT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585060"/>
              </p:ext>
            </p:extLst>
          </p:nvPr>
        </p:nvGraphicFramePr>
        <p:xfrm>
          <a:off x="762000" y="971550"/>
          <a:ext cx="7619999" cy="306914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46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3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27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035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marL="13253" marR="13253" marT="6627" marB="662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35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TC11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Add product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Valid data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Product added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759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TC12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Add product overflow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&gt;100 items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Limit warning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35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TC13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Edit product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Valid code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Updated product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66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TC14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Edit invalid product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Wrong code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Not found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35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TC15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Delete product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Valid code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Product removed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35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TC16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View products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Product list shown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97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TC17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Duplicate product code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Same code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message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7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TC18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Delete invalid product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code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message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581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457200" y="895350"/>
            <a:ext cx="8229600" cy="37909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066800" y="438150"/>
            <a:ext cx="380999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MEMBER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267459"/>
              </p:ext>
            </p:extLst>
          </p:nvPr>
        </p:nvGraphicFramePr>
        <p:xfrm>
          <a:off x="762000" y="1123950"/>
          <a:ext cx="7620000" cy="33528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586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marL="17494" marR="17494" marT="8747" marB="874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TC19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Add member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Valid input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Member created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7494" marR="17494" marT="8747" marB="874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TC20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Invalid tier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input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Retry prompt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7494" marR="17494" marT="8747" marB="874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TC21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Duplicate membership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Same customer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shown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7494" marR="17494" marT="8747" marB="874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86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TC22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Delete member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Valid ID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Member removed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7494" marR="17494" marT="8747" marB="874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033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TC23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Delete invalid member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ID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message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7494" marR="17494" marT="8747" marB="874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TC24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View members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Member list shown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7494" marR="17494" marT="8747" marB="874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605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381000" y="1047750"/>
            <a:ext cx="8458200" cy="36576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388991"/>
              </p:ext>
            </p:extLst>
          </p:nvPr>
        </p:nvGraphicFramePr>
        <p:xfrm>
          <a:off x="609600" y="1276350"/>
          <a:ext cx="8229604" cy="312420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186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8708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marL="18035" marR="18035" marT="9018" marB="901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708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TC25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Add customer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Valid data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Account created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8035" marR="18035" marT="9018" marB="901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33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TC26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Duplicate customer ID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Same ID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Error message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8035" marR="18035" marT="9018" marB="901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70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TC27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Password mismatch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confirm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Retry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8035" marR="18035" marT="9018" marB="901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70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TC28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Delete customer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Valid ID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Account removed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8035" marR="18035" marT="9018" marB="901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95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TC29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Delete invalid customer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ID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message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8035" marR="18035" marT="9018" marB="901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082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TC30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View customers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List shown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8035" marR="18035" marT="9018" marB="901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85800" y="5143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5. CUSTOMER ACCOUNT MANAGEMENT</a:t>
            </a:r>
          </a:p>
        </p:txBody>
      </p:sp>
    </p:spTree>
    <p:extLst>
      <p:ext uri="{BB962C8B-B14F-4D97-AF65-F5344CB8AC3E}">
        <p14:creationId xmlns:p14="http://schemas.microsoft.com/office/powerpoint/2010/main" val="3154224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903073"/>
              </p:ext>
            </p:extLst>
          </p:nvPr>
        </p:nvGraphicFramePr>
        <p:xfrm>
          <a:off x="609600" y="1276350"/>
          <a:ext cx="7772400" cy="2366801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32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3939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133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Search valid 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Existing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Product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689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Search invalid 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Not found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569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View all 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Display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0668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6. PRODUCT SEARCH &amp; VIEW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608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8862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991686"/>
              </p:ext>
            </p:extLst>
          </p:nvPr>
        </p:nvGraphicFramePr>
        <p:xfrm>
          <a:off x="685800" y="1047750"/>
          <a:ext cx="7696200" cy="329193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53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825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82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Add to cart valid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Code + 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Item added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82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Insufficient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qty &gt;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Error shown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31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Invalid 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Wrong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Not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82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Cart overflow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&gt;50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Cart full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88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Add item cancel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"no"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Not added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88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View empty 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Basket empty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9144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7. CART OPERATIONS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406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41148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590633"/>
              </p:ext>
            </p:extLst>
          </p:nvPr>
        </p:nvGraphicFramePr>
        <p:xfrm>
          <a:off x="914400" y="1047750"/>
          <a:ext cx="7391400" cy="36271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7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5428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Checkout empty 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Warning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Checkout with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Bill generated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Cash exact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Exact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Success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Cash extra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&gt;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Change returned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Cash insufficient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&lt;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Retry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42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QR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Select QR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QR displayed + success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9906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8. CHECKOUT &amp; PAYMENT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348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135378"/>
              </p:ext>
            </p:extLst>
          </p:nvPr>
        </p:nvGraphicFramePr>
        <p:xfrm>
          <a:off x="914400" y="1123950"/>
          <a:ext cx="7348680" cy="258204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69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9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85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95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Valid member discount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Active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Discount applied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197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Used membership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Same ID again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discount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893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Invalid member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discount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07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membership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ID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discount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9906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9. MEMBERSHIP DISCOUNT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602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452869"/>
              </p:ext>
            </p:extLst>
          </p:nvPr>
        </p:nvGraphicFramePr>
        <p:xfrm>
          <a:off x="762000" y="1123950"/>
          <a:ext cx="7577275" cy="262826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515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5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5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5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32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956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Sales summary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Stats shown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66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Product 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Sales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66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Discount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Member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66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sales yet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Empty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382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10. SALES REPORT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810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202672"/>
              </p:ext>
            </p:extLst>
          </p:nvPr>
        </p:nvGraphicFramePr>
        <p:xfrm>
          <a:off x="990600" y="1123950"/>
          <a:ext cx="7120080" cy="278525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24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4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831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43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Save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Backup 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Files saved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836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Load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Restore 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Data loaded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000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Restore cancel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Select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Operation 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76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Missing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No file 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Default data loaded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9906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11. FILE HANDLING / BACKUP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417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373701"/>
              </p:ext>
            </p:extLst>
          </p:nvPr>
        </p:nvGraphicFramePr>
        <p:xfrm>
          <a:off x="762000" y="1123950"/>
          <a:ext cx="7467600" cy="26314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Negative 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Reject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75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Large input strings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Long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crash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14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Rapid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Fast inputs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Stable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Max limits reached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Full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Warning shown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668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12. EDGE / STRESS CASES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424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50"/>
            <a:ext cx="9143999" cy="5067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152400" y="133350"/>
            <a:ext cx="7470775" cy="857250"/>
          </a:xfrm>
          <a:prstGeom prst="rect">
            <a:avLst/>
          </a:prstGeom>
        </p:spPr>
        <p:txBody>
          <a:bodyPr vert="horz" wrap="square" lIns="0" tIns="333467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52550"/>
            <a:ext cx="47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hlinkClick r:id="rId3"/>
              </a:rPr>
              <a:t>https://www.gofrugal.com/retail/?ref=common-header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209550"/>
            <a:ext cx="1757363" cy="102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572000" y="2800350"/>
            <a:ext cx="32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5"/>
              </a:rPr>
              <a:t>https://www.zoho.com/in/inventory/features/</a:t>
            </a:r>
            <a:endParaRPr lang="en-US" sz="1200" dirty="0"/>
          </a:p>
          <a:p>
            <a:endParaRPr lang="en-US" sz="12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24400" y="1885950"/>
            <a:ext cx="2871788" cy="882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D69364-D5E6-9BED-4E54-3784B8DAB2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400" y="3409950"/>
            <a:ext cx="2265092" cy="114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F7E55A-C688-7146-408D-FDC00C9E8EDB}"/>
              </a:ext>
            </a:extLst>
          </p:cNvPr>
          <p:cNvSpPr txBox="1"/>
          <p:nvPr/>
        </p:nvSpPr>
        <p:spPr>
          <a:xfrm>
            <a:off x="7239000" y="4063484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Offline store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868543" y="4115118"/>
            <a:ext cx="1009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1F1F1"/>
                </a:solidFill>
                <a:latin typeface="Arial MT"/>
                <a:cs typeface="Arial MT"/>
              </a:rPr>
              <a:t>AYH</a:t>
            </a:r>
            <a:r>
              <a:rPr sz="1500" spc="-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1F1F1"/>
                </a:solidFill>
                <a:latin typeface="Arial MT"/>
                <a:cs typeface="Arial MT"/>
              </a:rPr>
              <a:t>MART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7881" y="4381451"/>
            <a:ext cx="1451355" cy="17877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581400" y="1581150"/>
            <a:ext cx="5105400" cy="14196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130" algn="r">
              <a:lnSpc>
                <a:spcPct val="100000"/>
              </a:lnSpc>
              <a:spcBef>
                <a:spcPts val="110"/>
              </a:spcBef>
            </a:pPr>
            <a:r>
              <a:rPr sz="8000">
                <a:solidFill>
                  <a:srgbClr val="F1F1F1"/>
                </a:solidFill>
              </a:rPr>
              <a:t>Thank</a:t>
            </a:r>
            <a:r>
              <a:rPr sz="8000" spc="-140">
                <a:solidFill>
                  <a:srgbClr val="F1F1F1"/>
                </a:solidFill>
              </a:rPr>
              <a:t> </a:t>
            </a:r>
            <a:r>
              <a:rPr sz="8000" spc="-484">
                <a:solidFill>
                  <a:srgbClr val="F1F1F1"/>
                </a:solidFill>
              </a:rPr>
              <a:t>Y</a:t>
            </a:r>
            <a:r>
              <a:rPr sz="8000" spc="65">
                <a:solidFill>
                  <a:srgbClr val="F1F1F1"/>
                </a:solidFill>
              </a:rPr>
              <a:t>o</a:t>
            </a:r>
            <a:r>
              <a:rPr sz="8000" spc="25">
                <a:solidFill>
                  <a:srgbClr val="F1F1F1"/>
                </a:solidFill>
              </a:rPr>
              <a:t>u</a:t>
            </a:r>
            <a:endParaRPr lang="en-IN" sz="8000" spc="25" dirty="0">
              <a:solidFill>
                <a:srgbClr val="F1F1F1"/>
              </a:solidFill>
            </a:endParaRPr>
          </a:p>
          <a:p>
            <a:pPr marL="24130" algn="r">
              <a:lnSpc>
                <a:spcPct val="100000"/>
              </a:lnSpc>
              <a:spcBef>
                <a:spcPts val="110"/>
              </a:spcBef>
            </a:pPr>
            <a:r>
              <a:rPr sz="1050" i="1">
                <a:solidFill>
                  <a:srgbClr val="B8B8B8"/>
                </a:solidFill>
                <a:latin typeface="Arial"/>
                <a:cs typeface="Arial"/>
              </a:rPr>
              <a:t>AYH</a:t>
            </a:r>
            <a:r>
              <a:rPr sz="1050" i="1" spc="3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8B8B8"/>
                </a:solidFill>
                <a:latin typeface="Arial"/>
                <a:cs typeface="Arial"/>
              </a:rPr>
              <a:t>MART</a:t>
            </a:r>
            <a:r>
              <a:rPr sz="1050" i="1" spc="1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8B8B8"/>
                </a:solidFill>
                <a:latin typeface="Arial"/>
                <a:cs typeface="Arial"/>
              </a:rPr>
              <a:t>-</a:t>
            </a:r>
            <a:r>
              <a:rPr sz="1050" i="1" spc="45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8B8B8"/>
                </a:solidFill>
                <a:latin typeface="Arial"/>
                <a:cs typeface="Arial"/>
              </a:rPr>
              <a:t>Self</a:t>
            </a:r>
            <a:r>
              <a:rPr sz="1050" i="1" spc="75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8B8B8"/>
                </a:solidFill>
                <a:latin typeface="Arial"/>
                <a:cs typeface="Arial"/>
              </a:rPr>
              <a:t>Checkout</a:t>
            </a:r>
            <a:r>
              <a:rPr sz="1050" i="1" spc="-15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8B8B8"/>
                </a:solidFill>
                <a:latin typeface="Arial"/>
                <a:cs typeface="Arial"/>
              </a:rPr>
              <a:t>System</a:t>
            </a:r>
            <a:r>
              <a:rPr sz="1050" i="1" spc="2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1050" i="1" spc="-10" dirty="0">
                <a:solidFill>
                  <a:srgbClr val="B8B8B8"/>
                </a:solidFill>
                <a:latin typeface="Arial"/>
                <a:cs typeface="Arial"/>
              </a:rPr>
              <a:t>Presentation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Right Triangle 9"/>
          <p:cNvSpPr/>
          <p:nvPr/>
        </p:nvSpPr>
        <p:spPr>
          <a:xfrm>
            <a:off x="0" y="1733550"/>
            <a:ext cx="4191000" cy="340995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432</TotalTime>
  <Words>1151</Words>
  <Application>Microsoft Office PowerPoint</Application>
  <PresentationFormat>On-screen Show (16:9)</PresentationFormat>
  <Paragraphs>498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Arial MT</vt:lpstr>
      <vt:lpstr>Franklin Gothic Book</vt:lpstr>
      <vt:lpstr>Wingdings 2</vt:lpstr>
      <vt:lpstr>Technic</vt:lpstr>
      <vt:lpstr>PowerPoint Presentation</vt:lpstr>
      <vt:lpstr>PowerPoint Presentation</vt:lpstr>
      <vt:lpstr>What we'll cover Agenda</vt:lpstr>
      <vt:lpstr>Project abstract</vt:lpstr>
      <vt:lpstr>PowerPoint Presentation</vt:lpstr>
      <vt:lpstr>Project objectives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PowerPoint Presentation</vt:lpstr>
      <vt:lpstr>Screenshots</vt:lpstr>
      <vt:lpstr>Screenshots</vt:lpstr>
      <vt:lpstr>Screenshots</vt:lpstr>
      <vt:lpstr>Screenshots</vt:lpstr>
      <vt:lpstr>Screenshots</vt:lpstr>
      <vt:lpstr>PowerPoint Presentation</vt:lpstr>
      <vt:lpstr>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AYH MART: Checkout System</dc:title>
  <dc:creator>Harikrushna Gadhiya</dc:creator>
  <cp:lastModifiedBy>Yash Dhameliya</cp:lastModifiedBy>
  <cp:revision>30</cp:revision>
  <dcterms:created xsi:type="dcterms:W3CDTF">2026-03-17T14:26:08Z</dcterms:created>
  <dcterms:modified xsi:type="dcterms:W3CDTF">2026-03-27T06:51:23Z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LastSaved">
    <vt:filetime>2026-03-17T00:00:00Z</vt:filetime>
  </property>
</Properties>
</file>